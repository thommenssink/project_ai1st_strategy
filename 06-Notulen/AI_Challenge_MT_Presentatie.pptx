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3072" r:id="rId5"/>
    <p:sldId id="3079" r:id="rId6"/>
    <p:sldId id="3080" r:id="rId7"/>
    <p:sldId id="3085" r:id="rId8"/>
    <p:sldId id="3084" r:id="rId9"/>
    <p:sldId id="3073" r:id="rId10"/>
    <p:sldId id="3074" r:id="rId11"/>
    <p:sldId id="3075" r:id="rId12"/>
    <p:sldId id="3076" r:id="rId13"/>
    <p:sldId id="3081" r:id="rId14"/>
    <p:sldId id="3082" r:id="rId15"/>
    <p:sldId id="3077" r:id="rId16"/>
    <p:sldId id="3078" r:id="rId17"/>
    <p:sldId id="3083" r:id="rId18"/>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1BF05BD-B27A-3E76-086E-136BEEB11764}" name="Paul Hijmans" initials="PH" userId="S::paul.hijmans_awisoftware.nl#ext#@inpactsolutions.onmicrosoft.com::c6c3fb6e-3002-46ab-b9ee-5af6b52a4a0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00D0"/>
    <a:srgbClr val="80ABC3"/>
    <a:srgbClr val="C1C1C3"/>
    <a:srgbClr val="F4F4F6"/>
    <a:srgbClr val="ACA8DA"/>
    <a:srgbClr val="C4BFFE"/>
    <a:srgbClr val="1200F7"/>
    <a:srgbClr val="09007A"/>
    <a:srgbClr val="0500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630" autoAdjust="0"/>
  </p:normalViewPr>
  <p:slideViewPr>
    <p:cSldViewPr snapToGrid="0">
      <p:cViewPr varScale="1">
        <p:scale>
          <a:sx n="74" d="100"/>
          <a:sy n="74" d="100"/>
        </p:scale>
        <p:origin x="1908"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9FB821-7FDB-4847-9C8F-8C34FC955B77}" type="datetimeFigureOut">
              <a:rPr lang="nl-NL" smtClean="0"/>
              <a:t>23-6-2025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664ACB-A513-4A94-AC46-0A5BFEDFD840}" type="slidenum">
              <a:rPr lang="nl-NL" smtClean="0"/>
              <a:t>‹#›</a:t>
            </a:fld>
            <a:endParaRPr lang="nl-NL"/>
          </a:p>
        </p:txBody>
      </p:sp>
    </p:spTree>
    <p:extLst>
      <p:ext uri="{BB962C8B-B14F-4D97-AF65-F5344CB8AC3E}">
        <p14:creationId xmlns:p14="http://schemas.microsoft.com/office/powerpoint/2010/main" val="30614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nl-NL" b="1" dirty="0"/>
              <a:t>1 dag per week, 13 weken, 90 mensen verdeeld over kleine teams.</a:t>
            </a:r>
            <a:r>
              <a:rPr lang="nl-NL" dirty="0"/>
              <a:t> Klinkt intensief? Klopt. Maar deze investering levert ons:</a:t>
            </a:r>
          </a:p>
          <a:p>
            <a:pPr>
              <a:buFont typeface="Arial" panose="020B0604020202020204" pitchFamily="34" charset="0"/>
              <a:buChar char="•"/>
            </a:pPr>
            <a:r>
              <a:rPr lang="nl-NL" dirty="0"/>
              <a:t>Een bewezen versnelling van onze software delivery met factor 10</a:t>
            </a:r>
          </a:p>
          <a:p>
            <a:pPr>
              <a:buFont typeface="Arial" panose="020B0604020202020204" pitchFamily="34" charset="0"/>
              <a:buChar char="•"/>
            </a:pPr>
            <a:r>
              <a:rPr lang="nl-NL" dirty="0"/>
              <a:t>Een directe impact op onze bedrijfsvoering</a:t>
            </a:r>
          </a:p>
          <a:p>
            <a:pPr>
              <a:buFont typeface="Arial" panose="020B0604020202020204" pitchFamily="34" charset="0"/>
              <a:buChar char="•"/>
            </a:pPr>
            <a:r>
              <a:rPr lang="nl-NL" dirty="0"/>
              <a:t>Concrete </a:t>
            </a:r>
            <a:r>
              <a:rPr lang="nl-NL" dirty="0" err="1"/>
              <a:t>MVP’s</a:t>
            </a:r>
            <a:r>
              <a:rPr lang="nl-NL" dirty="0"/>
              <a:t> die aantoonbaar onze processen verbeteren</a:t>
            </a:r>
          </a:p>
          <a:p>
            <a:r>
              <a:rPr lang="nl-NL" b="1" dirty="0"/>
              <a:t>Zonder deze investering blijven we in onze oude ritmes.</a:t>
            </a:r>
            <a:r>
              <a:rPr lang="nl-NL" dirty="0"/>
              <a:t> En dat is onhoudbaar.</a:t>
            </a:r>
          </a:p>
          <a:p>
            <a:endParaRPr lang="en-GB" dirty="0"/>
          </a:p>
        </p:txBody>
      </p:sp>
      <p:sp>
        <p:nvSpPr>
          <p:cNvPr id="4" name="Slide Number Placeholder 3"/>
          <p:cNvSpPr>
            <a:spLocks noGrp="1"/>
          </p:cNvSpPr>
          <p:nvPr>
            <p:ph type="sldNum" sz="quarter" idx="5"/>
          </p:nvPr>
        </p:nvSpPr>
        <p:spPr/>
        <p:txBody>
          <a:bodyPr/>
          <a:lstStyle/>
          <a:p>
            <a:fld id="{77664ACB-A513-4A94-AC46-0A5BFEDFD840}" type="slidenum">
              <a:rPr lang="nl-NL" smtClean="0"/>
              <a:t>2</a:t>
            </a:fld>
            <a:endParaRPr lang="nl-NL"/>
          </a:p>
        </p:txBody>
      </p:sp>
    </p:spTree>
    <p:extLst>
      <p:ext uri="{BB962C8B-B14F-4D97-AF65-F5344CB8AC3E}">
        <p14:creationId xmlns:p14="http://schemas.microsoft.com/office/powerpoint/2010/main" val="1970075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dirty="0">
                <a:solidFill>
                  <a:srgbClr val="3D5E56"/>
                </a:solidFill>
                <a:effectLst/>
                <a:latin typeface="Open Sans" panose="020B0606030504020204" pitchFamily="34" charset="0"/>
              </a:rPr>
              <a:t>McKinsey just dropped a report dissecting the </a:t>
            </a:r>
            <a:r>
              <a:rPr lang="en-US" b="1" dirty="0">
                <a:solidFill>
                  <a:srgbClr val="3D5E56"/>
                </a:solidFill>
                <a:effectLst/>
                <a:latin typeface="Open Sans" panose="020B0606030504020204" pitchFamily="34" charset="0"/>
              </a:rPr>
              <a:t>“</a:t>
            </a:r>
            <a:r>
              <a:rPr lang="en-US" b="1" dirty="0" err="1">
                <a:solidFill>
                  <a:srgbClr val="3D5E56"/>
                </a:solidFill>
                <a:effectLst/>
                <a:latin typeface="Open Sans" panose="020B0606030504020204" pitchFamily="34" charset="0"/>
              </a:rPr>
              <a:t>genAI</a:t>
            </a:r>
            <a:r>
              <a:rPr lang="en-US" b="1" dirty="0">
                <a:solidFill>
                  <a:srgbClr val="3D5E56"/>
                </a:solidFill>
                <a:effectLst/>
                <a:latin typeface="Open Sans" panose="020B0606030504020204" pitchFamily="34" charset="0"/>
              </a:rPr>
              <a:t> paradox.”</a:t>
            </a:r>
            <a:r>
              <a:rPr lang="en-US" b="0" dirty="0">
                <a:solidFill>
                  <a:srgbClr val="3D5E56"/>
                </a:solidFill>
                <a:effectLst/>
                <a:latin typeface="Open Sans" panose="020B0606030504020204" pitchFamily="34" charset="0"/>
              </a:rPr>
              <a:t> Nearly 80% of companies say they’ve deployed generative AI, but just as many say they’ve seen </a:t>
            </a:r>
            <a:r>
              <a:rPr lang="en-US" b="1" dirty="0">
                <a:solidFill>
                  <a:srgbClr val="3D5E56"/>
                </a:solidFill>
                <a:effectLst/>
                <a:latin typeface="Open Sans" panose="020B0606030504020204" pitchFamily="34" charset="0"/>
              </a:rPr>
              <a:t>no material impact</a:t>
            </a:r>
            <a:r>
              <a:rPr lang="en-US" b="0" dirty="0">
                <a:solidFill>
                  <a:srgbClr val="3D5E56"/>
                </a:solidFill>
                <a:effectLst/>
                <a:latin typeface="Open Sans" panose="020B0606030504020204" pitchFamily="34" charset="0"/>
              </a:rPr>
              <a:t> on earnings. The consultancy says the solution isn’t more tools. It’s a total rewrite of how businesses operate.</a:t>
            </a:r>
          </a:p>
          <a:p>
            <a:pPr algn="l">
              <a:buNone/>
            </a:pPr>
            <a:r>
              <a:rPr lang="en-US" b="1" dirty="0">
                <a:solidFill>
                  <a:srgbClr val="3D5E56"/>
                </a:solidFill>
                <a:effectLst/>
                <a:latin typeface="Open Sans" panose="020B0606030504020204" pitchFamily="34" charset="0"/>
              </a:rPr>
              <a:t>Key points:</a:t>
            </a:r>
            <a:endParaRPr lang="en-US" b="0" dirty="0">
              <a:solidFill>
                <a:srgbClr val="3D5E56"/>
              </a:solidFill>
              <a:effectLst/>
              <a:latin typeface="Open Sans" panose="020B0606030504020204" pitchFamily="34" charset="0"/>
            </a:endParaRPr>
          </a:p>
          <a:p>
            <a:pPr algn="l" fontAlgn="base">
              <a:lnSpc>
                <a:spcPts val="1800"/>
              </a:lnSpc>
              <a:spcBef>
                <a:spcPts val="300"/>
              </a:spcBef>
              <a:spcAft>
                <a:spcPts val="900"/>
              </a:spcAft>
              <a:buFont typeface="Arial" panose="020B0604020202020204" pitchFamily="34" charset="0"/>
              <a:buChar char="•"/>
            </a:pPr>
            <a:r>
              <a:rPr lang="en-US" b="1" dirty="0">
                <a:solidFill>
                  <a:srgbClr val="3D5E56"/>
                </a:solidFill>
                <a:effectLst/>
                <a:latin typeface="Open Sans" panose="020B0606030504020204" pitchFamily="34" charset="0"/>
              </a:rPr>
              <a:t>Most firms use general-purpose tools</a:t>
            </a:r>
            <a:r>
              <a:rPr lang="en-US" b="0" dirty="0">
                <a:solidFill>
                  <a:srgbClr val="3D5E56"/>
                </a:solidFill>
                <a:effectLst/>
                <a:latin typeface="Open Sans" panose="020B0606030504020204" pitchFamily="34" charset="0"/>
              </a:rPr>
              <a:t> like copilots and chatbots that deliver vague, unmeasurable gains.</a:t>
            </a:r>
          </a:p>
          <a:p>
            <a:pPr algn="l" fontAlgn="base">
              <a:lnSpc>
                <a:spcPts val="1800"/>
              </a:lnSpc>
              <a:spcBef>
                <a:spcPts val="300"/>
              </a:spcBef>
              <a:spcAft>
                <a:spcPts val="900"/>
              </a:spcAft>
              <a:buFont typeface="Arial" panose="020B0604020202020204" pitchFamily="34" charset="0"/>
              <a:buChar char="•"/>
            </a:pPr>
            <a:r>
              <a:rPr lang="en-US" b="1" dirty="0">
                <a:solidFill>
                  <a:srgbClr val="3D5E56"/>
                </a:solidFill>
                <a:effectLst/>
                <a:latin typeface="Open Sans" panose="020B0606030504020204" pitchFamily="34" charset="0"/>
              </a:rPr>
              <a:t>Vertical use cases</a:t>
            </a:r>
            <a:r>
              <a:rPr lang="en-US" b="0" dirty="0">
                <a:solidFill>
                  <a:srgbClr val="3D5E56"/>
                </a:solidFill>
                <a:effectLst/>
                <a:latin typeface="Open Sans" panose="020B0606030504020204" pitchFamily="34" charset="0"/>
              </a:rPr>
              <a:t>, which target specific business functions, are stuck in pilot purgatory never scaling to impact.</a:t>
            </a:r>
          </a:p>
          <a:p>
            <a:pPr algn="l" fontAlgn="base">
              <a:lnSpc>
                <a:spcPts val="1800"/>
              </a:lnSpc>
              <a:spcBef>
                <a:spcPts val="300"/>
              </a:spcBef>
              <a:spcAft>
                <a:spcPts val="900"/>
              </a:spcAft>
              <a:buFont typeface="Arial" panose="020B0604020202020204" pitchFamily="34" charset="0"/>
              <a:buChar char="•"/>
            </a:pPr>
            <a:r>
              <a:rPr lang="en-US" b="0" dirty="0">
                <a:solidFill>
                  <a:srgbClr val="3D5E56"/>
                </a:solidFill>
                <a:effectLst/>
                <a:latin typeface="Open Sans" panose="020B0606030504020204" pitchFamily="34" charset="0"/>
              </a:rPr>
              <a:t>McKinsey argues that </a:t>
            </a:r>
            <a:r>
              <a:rPr lang="en-US" b="1" dirty="0">
                <a:solidFill>
                  <a:srgbClr val="3D5E56"/>
                </a:solidFill>
                <a:effectLst/>
                <a:latin typeface="Open Sans" panose="020B0606030504020204" pitchFamily="34" charset="0"/>
              </a:rPr>
              <a:t>agents</a:t>
            </a:r>
            <a:r>
              <a:rPr lang="en-US" b="0" dirty="0">
                <a:solidFill>
                  <a:srgbClr val="3D5E56"/>
                </a:solidFill>
                <a:effectLst/>
                <a:latin typeface="Open Sans" panose="020B0606030504020204" pitchFamily="34" charset="0"/>
              </a:rPr>
              <a:t>, not copilots, are the path forward. But they require </a:t>
            </a:r>
            <a:r>
              <a:rPr lang="en-US" b="1" dirty="0">
                <a:solidFill>
                  <a:srgbClr val="3D5E56"/>
                </a:solidFill>
                <a:effectLst/>
                <a:latin typeface="Open Sans" panose="020B0606030504020204" pitchFamily="34" charset="0"/>
              </a:rPr>
              <a:t>rebuilding workflows from the ground up</a:t>
            </a:r>
            <a:r>
              <a:rPr lang="en-US" b="0" dirty="0">
                <a:solidFill>
                  <a:srgbClr val="3D5E56"/>
                </a:solidFill>
                <a:effectLst/>
                <a:latin typeface="Open Sans" panose="020B0606030504020204" pitchFamily="34" charset="0"/>
              </a:rPr>
              <a:t>, not duct-taping bots onto outdated processes.</a:t>
            </a:r>
          </a:p>
          <a:p>
            <a:pPr algn="l" fontAlgn="base">
              <a:lnSpc>
                <a:spcPts val="1800"/>
              </a:lnSpc>
              <a:spcBef>
                <a:spcPts val="300"/>
              </a:spcBef>
              <a:spcAft>
                <a:spcPts val="900"/>
              </a:spcAft>
              <a:buFont typeface="Arial" panose="020B0604020202020204" pitchFamily="34" charset="0"/>
              <a:buChar char="•"/>
            </a:pPr>
            <a:r>
              <a:rPr lang="en-US" b="0" dirty="0">
                <a:solidFill>
                  <a:srgbClr val="3D5E56"/>
                </a:solidFill>
                <a:effectLst/>
                <a:latin typeface="Open Sans" panose="020B0606030504020204" pitchFamily="34" charset="0"/>
              </a:rPr>
              <a:t>The firm calls for a </a:t>
            </a:r>
            <a:r>
              <a:rPr lang="en-US" b="1" dirty="0">
                <a:solidFill>
                  <a:srgbClr val="3D5E56"/>
                </a:solidFill>
                <a:effectLst/>
                <a:latin typeface="Open Sans" panose="020B0606030504020204" pitchFamily="34" charset="0"/>
              </a:rPr>
              <a:t>top-down leadership overhaul</a:t>
            </a:r>
            <a:r>
              <a:rPr lang="en-US" b="0" dirty="0">
                <a:solidFill>
                  <a:srgbClr val="3D5E56"/>
                </a:solidFill>
                <a:effectLst/>
                <a:latin typeface="Open Sans" panose="020B0606030504020204" pitchFamily="34" charset="0"/>
              </a:rPr>
              <a:t>, moving from experimentation to enterprise-level transformation.</a:t>
            </a:r>
          </a:p>
          <a:p>
            <a:pPr algn="l"/>
            <a:r>
              <a:rPr lang="en-US" b="0" dirty="0">
                <a:solidFill>
                  <a:srgbClr val="3D5E56"/>
                </a:solidFill>
                <a:effectLst/>
                <a:latin typeface="Open Sans" panose="020B0606030504020204" pitchFamily="34" charset="0"/>
              </a:rPr>
              <a:t>Companies are racing to deploy AI, but few are asking the hard questions about structure, process, and scale. McKinsey’s warning is clear without bold operational redesign, today’s AI investments might become tomorrow’s sunk costs.</a:t>
            </a:r>
          </a:p>
          <a:p>
            <a:endParaRPr lang="en-GB" dirty="0"/>
          </a:p>
        </p:txBody>
      </p:sp>
      <p:sp>
        <p:nvSpPr>
          <p:cNvPr id="4" name="Slide Number Placeholder 3"/>
          <p:cNvSpPr>
            <a:spLocks noGrp="1"/>
          </p:cNvSpPr>
          <p:nvPr>
            <p:ph type="sldNum" sz="quarter" idx="5"/>
          </p:nvPr>
        </p:nvSpPr>
        <p:spPr/>
        <p:txBody>
          <a:bodyPr/>
          <a:lstStyle/>
          <a:p>
            <a:fld id="{77664ACB-A513-4A94-AC46-0A5BFEDFD840}" type="slidenum">
              <a:rPr lang="nl-NL" smtClean="0"/>
              <a:t>3</a:t>
            </a:fld>
            <a:endParaRPr lang="nl-NL"/>
          </a:p>
        </p:txBody>
      </p:sp>
    </p:spTree>
    <p:extLst>
      <p:ext uri="{BB962C8B-B14F-4D97-AF65-F5344CB8AC3E}">
        <p14:creationId xmlns:p14="http://schemas.microsoft.com/office/powerpoint/2010/main" val="2341300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nl-NL" b="1" dirty="0"/>
              <a:t>Wat willen we bereiken?</a:t>
            </a:r>
          </a:p>
          <a:p>
            <a:pPr>
              <a:buNone/>
            </a:pPr>
            <a:r>
              <a:rPr lang="nl-NL" b="1" dirty="0"/>
              <a:t>1. Versnelling van de SDLC met factor 10</a:t>
            </a:r>
          </a:p>
          <a:p>
            <a:pPr>
              <a:buFont typeface="Arial" panose="020B0604020202020204" pitchFamily="34" charset="0"/>
              <a:buChar char="•"/>
            </a:pPr>
            <a:r>
              <a:rPr lang="nl-NL" dirty="0" err="1"/>
              <a:t>MVP’s</a:t>
            </a:r>
            <a:r>
              <a:rPr lang="nl-NL" dirty="0"/>
              <a:t> gebouwd in dagen i.p.v. weken</a:t>
            </a:r>
          </a:p>
          <a:p>
            <a:pPr>
              <a:buFont typeface="Arial" panose="020B0604020202020204" pitchFamily="34" charset="0"/>
              <a:buChar char="•"/>
            </a:pPr>
            <a:r>
              <a:rPr lang="nl-NL" dirty="0"/>
              <a:t>Developer </a:t>
            </a:r>
            <a:r>
              <a:rPr lang="nl-NL" dirty="0" err="1"/>
              <a:t>Copilots</a:t>
            </a:r>
            <a:r>
              <a:rPr lang="nl-NL" dirty="0"/>
              <a:t>, gegenereerde testscenario’s, automatische </a:t>
            </a:r>
            <a:r>
              <a:rPr lang="nl-NL" dirty="0" err="1"/>
              <a:t>refactors</a:t>
            </a:r>
            <a:endParaRPr lang="nl-NL" dirty="0"/>
          </a:p>
          <a:p>
            <a:pPr>
              <a:buFont typeface="Arial" panose="020B0604020202020204" pitchFamily="34" charset="0"/>
              <a:buChar char="•"/>
            </a:pPr>
            <a:r>
              <a:rPr lang="nl-NL" dirty="0"/>
              <a:t>Zelflerende patronen voor toekomstige </a:t>
            </a:r>
            <a:r>
              <a:rPr lang="nl-NL" dirty="0" err="1"/>
              <a:t>reuse</a:t>
            </a:r>
            <a:endParaRPr lang="nl-NL" dirty="0"/>
          </a:p>
          <a:p>
            <a:pPr>
              <a:buNone/>
            </a:pPr>
            <a:r>
              <a:rPr lang="nl-NL" b="1" dirty="0"/>
              <a:t>2. AI-first ticketbehandeling (70%)</a:t>
            </a:r>
          </a:p>
          <a:p>
            <a:pPr>
              <a:buFont typeface="Arial" panose="020B0604020202020204" pitchFamily="34" charset="0"/>
              <a:buChar char="•"/>
            </a:pPr>
            <a:r>
              <a:rPr lang="nl-NL" dirty="0"/>
              <a:t>Tickets automatisch geanalyseerd, opgelost, beantwoord</a:t>
            </a:r>
          </a:p>
          <a:p>
            <a:pPr>
              <a:buFont typeface="Arial" panose="020B0604020202020204" pitchFamily="34" charset="0"/>
              <a:buChar char="•"/>
            </a:pPr>
            <a:r>
              <a:rPr lang="nl-NL" dirty="0"/>
              <a:t>AI begrijpt AFAS en </a:t>
            </a:r>
            <a:r>
              <a:rPr lang="nl-NL" dirty="0" err="1"/>
              <a:t>legacy</a:t>
            </a:r>
            <a:r>
              <a:rPr lang="nl-NL" dirty="0"/>
              <a:t>-code, en lost zelf problemen op</a:t>
            </a:r>
          </a:p>
          <a:p>
            <a:pPr>
              <a:buFont typeface="Arial" panose="020B0604020202020204" pitchFamily="34" charset="0"/>
              <a:buChar char="•"/>
            </a:pPr>
            <a:r>
              <a:rPr lang="nl-NL" dirty="0"/>
              <a:t>Integratie met </a:t>
            </a:r>
            <a:r>
              <a:rPr lang="nl-NL" dirty="0" err="1"/>
              <a:t>Jira</a:t>
            </a:r>
            <a:r>
              <a:rPr lang="nl-NL" dirty="0"/>
              <a:t>/AFAS </a:t>
            </a:r>
            <a:r>
              <a:rPr lang="nl-NL" dirty="0" err="1"/>
              <a:t>knowledgebase</a:t>
            </a:r>
            <a:r>
              <a:rPr lang="nl-NL" dirty="0"/>
              <a:t> + code analyserende GPT</a:t>
            </a:r>
          </a:p>
          <a:p>
            <a:pPr>
              <a:buNone/>
            </a:pPr>
            <a:r>
              <a:rPr lang="nl-NL" b="1" dirty="0"/>
              <a:t>3. 100% juiste en tijdige urenrapportage (VVT)</a:t>
            </a:r>
          </a:p>
          <a:p>
            <a:pPr>
              <a:buFont typeface="Arial" panose="020B0604020202020204" pitchFamily="34" charset="0"/>
              <a:buChar char="•"/>
            </a:pPr>
            <a:r>
              <a:rPr lang="nl-NL" dirty="0"/>
              <a:t>Dagelijkse validatie via AI: klopt het aantal uren? Is het volledig?</a:t>
            </a:r>
          </a:p>
          <a:p>
            <a:pPr>
              <a:buFont typeface="Arial" panose="020B0604020202020204" pitchFamily="34" charset="0"/>
              <a:buChar char="•"/>
            </a:pPr>
            <a:r>
              <a:rPr lang="nl-NL" dirty="0"/>
              <a:t>Real-time feedback aan medewerker + suggesties uit planning of gedrag</a:t>
            </a:r>
          </a:p>
          <a:p>
            <a:pPr>
              <a:buNone/>
            </a:pPr>
            <a:r>
              <a:rPr lang="nl-NL" b="1" dirty="0"/>
              <a:t>4. 50% meer verkoopgesprekken</a:t>
            </a:r>
          </a:p>
          <a:p>
            <a:pPr>
              <a:buFont typeface="Arial" panose="020B0604020202020204" pitchFamily="34" charset="0"/>
              <a:buChar char="•"/>
            </a:pPr>
            <a:r>
              <a:rPr lang="nl-NL" dirty="0"/>
              <a:t>AI werkt bezoekverslagen automatisch uit</a:t>
            </a:r>
          </a:p>
          <a:p>
            <a:pPr>
              <a:buFont typeface="Arial" panose="020B0604020202020204" pitchFamily="34" charset="0"/>
              <a:buChar char="•"/>
            </a:pPr>
            <a:r>
              <a:rPr lang="nl-NL" dirty="0"/>
              <a:t>Mailt opvolging, vult CRM aan, genereert verkoopcase + actie</a:t>
            </a:r>
          </a:p>
          <a:p>
            <a:pPr>
              <a:buFont typeface="Arial" panose="020B0604020202020204" pitchFamily="34" charset="0"/>
              <a:buChar char="•"/>
            </a:pPr>
            <a:r>
              <a:rPr lang="nl-NL" dirty="0"/>
              <a:t>Binnen 2 uur na elk gesprek is opvolging volledig geregeld</a:t>
            </a:r>
          </a:p>
          <a:p>
            <a:pPr>
              <a:buNone/>
            </a:pPr>
            <a:r>
              <a:rPr lang="nl-NL" b="1" dirty="0"/>
              <a:t>5. Consultants = AI-katalysatoren voor inrichting</a:t>
            </a:r>
          </a:p>
          <a:p>
            <a:pPr>
              <a:buFont typeface="Arial" panose="020B0604020202020204" pitchFamily="34" charset="0"/>
              <a:buChar char="•"/>
            </a:pPr>
            <a:r>
              <a:rPr lang="nl-NL" dirty="0"/>
              <a:t>AI helpt klantwensen om te zetten in systeeminrichting</a:t>
            </a:r>
          </a:p>
          <a:p>
            <a:pPr>
              <a:buFont typeface="Arial" panose="020B0604020202020204" pitchFamily="34" charset="0"/>
              <a:buChar char="•"/>
            </a:pPr>
            <a:r>
              <a:rPr lang="nl-NL" dirty="0"/>
              <a:t>Beschrijft effecten, voert wijzigingen uit, test deze</a:t>
            </a:r>
          </a:p>
          <a:p>
            <a:pPr>
              <a:buNone/>
            </a:pPr>
            <a:r>
              <a:rPr lang="nl-NL" b="1" dirty="0"/>
              <a:t>6. Product </a:t>
            </a:r>
            <a:r>
              <a:rPr lang="nl-NL" b="1" dirty="0" err="1"/>
              <a:t>Owners</a:t>
            </a:r>
            <a:r>
              <a:rPr lang="nl-NL" b="1" dirty="0"/>
              <a:t> x2 effectiviteit</a:t>
            </a:r>
          </a:p>
          <a:p>
            <a:pPr>
              <a:buFont typeface="Arial" panose="020B0604020202020204" pitchFamily="34" charset="0"/>
              <a:buChar char="•"/>
            </a:pPr>
            <a:r>
              <a:rPr lang="nl-NL" dirty="0"/>
              <a:t>Klantfeedback → </a:t>
            </a:r>
            <a:r>
              <a:rPr lang="nl-NL" dirty="0" err="1"/>
              <a:t>requirements</a:t>
            </a:r>
            <a:r>
              <a:rPr lang="nl-NL" dirty="0"/>
              <a:t> + </a:t>
            </a:r>
            <a:r>
              <a:rPr lang="nl-NL" dirty="0" err="1"/>
              <a:t>stories</a:t>
            </a:r>
            <a:r>
              <a:rPr lang="nl-NL" dirty="0"/>
              <a:t> met GPT</a:t>
            </a:r>
          </a:p>
          <a:p>
            <a:pPr>
              <a:buFont typeface="Arial" panose="020B0604020202020204" pitchFamily="34" charset="0"/>
              <a:buChar char="•"/>
            </a:pPr>
            <a:r>
              <a:rPr lang="nl-NL" dirty="0"/>
              <a:t>Automatische tijdbudgettering o.b.v. historische effort</a:t>
            </a:r>
          </a:p>
          <a:p>
            <a:pPr>
              <a:buNone/>
            </a:pPr>
            <a:r>
              <a:rPr lang="nl-NL" b="1" dirty="0"/>
              <a:t>7. Volledige automatisering van variabele eenheden</a:t>
            </a:r>
          </a:p>
          <a:p>
            <a:pPr>
              <a:buFont typeface="Arial" panose="020B0604020202020204" pitchFamily="34" charset="0"/>
              <a:buChar char="•"/>
            </a:pPr>
            <a:r>
              <a:rPr lang="nl-NL" dirty="0"/>
              <a:t>AI identificeert alle facturatiebronnen</a:t>
            </a:r>
          </a:p>
          <a:p>
            <a:pPr>
              <a:buFont typeface="Arial" panose="020B0604020202020204" pitchFamily="34" charset="0"/>
              <a:buChar char="•"/>
            </a:pPr>
            <a:r>
              <a:rPr lang="nl-NL" dirty="0"/>
              <a:t>Levert MVP op voor bronkoppeling en verwerking (denk aan Infofolio)</a:t>
            </a:r>
          </a:p>
          <a:p>
            <a:endParaRPr lang="en-GB" dirty="0"/>
          </a:p>
        </p:txBody>
      </p:sp>
      <p:sp>
        <p:nvSpPr>
          <p:cNvPr id="4" name="Slide Number Placeholder 3"/>
          <p:cNvSpPr>
            <a:spLocks noGrp="1"/>
          </p:cNvSpPr>
          <p:nvPr>
            <p:ph type="sldNum" sz="quarter" idx="5"/>
          </p:nvPr>
        </p:nvSpPr>
        <p:spPr/>
        <p:txBody>
          <a:bodyPr/>
          <a:lstStyle/>
          <a:p>
            <a:fld id="{77664ACB-A513-4A94-AC46-0A5BFEDFD840}" type="slidenum">
              <a:rPr lang="nl-NL" smtClean="0"/>
              <a:t>7</a:t>
            </a:fld>
            <a:endParaRPr lang="nl-NL"/>
          </a:p>
        </p:txBody>
      </p:sp>
    </p:spTree>
    <p:extLst>
      <p:ext uri="{BB962C8B-B14F-4D97-AF65-F5344CB8AC3E}">
        <p14:creationId xmlns:p14="http://schemas.microsoft.com/office/powerpoint/2010/main" val="953415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nl-NL" b="1" dirty="0"/>
              <a:t>🏆 Hoe maken we dit tot een onvergetelijk succes?</a:t>
            </a:r>
          </a:p>
          <a:p>
            <a:pPr>
              <a:buNone/>
            </a:pPr>
            <a:r>
              <a:rPr lang="nl-NL" b="1" dirty="0"/>
              <a:t>1. Competitie als versneller</a:t>
            </a:r>
          </a:p>
          <a:p>
            <a:pPr>
              <a:buFont typeface="Arial" panose="020B0604020202020204" pitchFamily="34" charset="0"/>
              <a:buChar char="•"/>
            </a:pPr>
            <a:r>
              <a:rPr lang="nl-NL" dirty="0"/>
              <a:t>Teams strijden op inhoud, snelheid en impact</a:t>
            </a:r>
          </a:p>
          <a:p>
            <a:pPr>
              <a:buFont typeface="Arial" panose="020B0604020202020204" pitchFamily="34" charset="0"/>
              <a:buChar char="•"/>
            </a:pPr>
            <a:r>
              <a:rPr lang="nl-NL" dirty="0"/>
              <a:t>Criteria: beste MVP, hoogste versnelling, beste samenwerking</a:t>
            </a:r>
          </a:p>
          <a:p>
            <a:pPr>
              <a:buFont typeface="Arial" panose="020B0604020202020204" pitchFamily="34" charset="0"/>
              <a:buChar char="•"/>
            </a:pPr>
            <a:r>
              <a:rPr lang="nl-NL" dirty="0"/>
              <a:t>Finale Demo Day met publiek, jury en prijsuitreiking</a:t>
            </a:r>
          </a:p>
          <a:p>
            <a:pPr>
              <a:buNone/>
            </a:pPr>
            <a:r>
              <a:rPr lang="nl-NL" b="1" dirty="0"/>
              <a:t>2. Coaching en support</a:t>
            </a:r>
          </a:p>
          <a:p>
            <a:pPr>
              <a:buFont typeface="Arial" panose="020B0604020202020204" pitchFamily="34" charset="0"/>
              <a:buChar char="•"/>
            </a:pPr>
            <a:r>
              <a:rPr lang="nl-NL" dirty="0"/>
              <a:t>Elk team krijgt een coach (</a:t>
            </a:r>
            <a:r>
              <a:rPr lang="nl-NL" dirty="0" err="1"/>
              <a:t>tech</a:t>
            </a:r>
            <a:r>
              <a:rPr lang="nl-NL" dirty="0"/>
              <a:t>/AI of proces) voor inhoudelijke begeleiding</a:t>
            </a:r>
          </a:p>
          <a:p>
            <a:pPr>
              <a:buFont typeface="Arial" panose="020B0604020202020204" pitchFamily="34" charset="0"/>
              <a:buChar char="•"/>
            </a:pPr>
            <a:r>
              <a:rPr lang="nl-NL" dirty="0"/>
              <a:t>Wekelijkse check-in per team met coach</a:t>
            </a:r>
          </a:p>
          <a:p>
            <a:pPr>
              <a:buFont typeface="Arial" panose="020B0604020202020204" pitchFamily="34" charset="0"/>
              <a:buChar char="•"/>
            </a:pPr>
            <a:r>
              <a:rPr lang="nl-NL" dirty="0"/>
              <a:t>Centrale promptbibliotheek, tipsheets en AI-support beschikbaar</a:t>
            </a:r>
          </a:p>
          <a:p>
            <a:pPr>
              <a:buNone/>
            </a:pPr>
            <a:r>
              <a:rPr lang="nl-NL" b="1" dirty="0"/>
              <a:t>3. Leiderschap als vliegwiel</a:t>
            </a:r>
          </a:p>
          <a:p>
            <a:pPr>
              <a:buFont typeface="Arial" panose="020B0604020202020204" pitchFamily="34" charset="0"/>
              <a:buChar char="•"/>
            </a:pPr>
            <a:r>
              <a:rPr lang="nl-NL" dirty="0"/>
              <a:t>Teamleiders stimuleren, faciliteren en zorgen voor ruimte in de praktijk</a:t>
            </a:r>
          </a:p>
          <a:p>
            <a:pPr>
              <a:buFont typeface="Arial" panose="020B0604020202020204" pitchFamily="34" charset="0"/>
              <a:buChar char="•"/>
            </a:pPr>
            <a:r>
              <a:rPr lang="nl-NL" dirty="0"/>
              <a:t>MT volgt de voortgang actief, geeft feedback en viert successen</a:t>
            </a:r>
          </a:p>
          <a:p>
            <a:pPr>
              <a:buNone/>
            </a:pPr>
            <a:r>
              <a:rPr lang="nl-NL" b="1" dirty="0"/>
              <a:t>4. Motivatie &amp; energie</a:t>
            </a:r>
          </a:p>
          <a:p>
            <a:pPr>
              <a:buFont typeface="Arial" panose="020B0604020202020204" pitchFamily="34" charset="0"/>
              <a:buChar char="•"/>
            </a:pPr>
            <a:r>
              <a:rPr lang="nl-NL" dirty="0"/>
              <a:t>Challenge Wall of Fame met voortgang per team</a:t>
            </a:r>
          </a:p>
          <a:p>
            <a:pPr>
              <a:buFont typeface="Arial" panose="020B0604020202020204" pitchFamily="34" charset="0"/>
              <a:buChar char="•"/>
            </a:pPr>
            <a:r>
              <a:rPr lang="nl-NL" dirty="0"/>
              <a:t>Tussentijdse demo's + publiek stemmoment</a:t>
            </a:r>
          </a:p>
          <a:p>
            <a:pPr>
              <a:buFont typeface="Arial" panose="020B0604020202020204" pitchFamily="34" charset="0"/>
              <a:buChar char="•"/>
            </a:pPr>
            <a:r>
              <a:rPr lang="nl-NL" dirty="0"/>
              <a:t>Surprise </a:t>
            </a:r>
            <a:r>
              <a:rPr lang="nl-NL" dirty="0" err="1"/>
              <a:t>awards</a:t>
            </a:r>
            <a:r>
              <a:rPr lang="nl-NL" dirty="0"/>
              <a:t>, lunchsessies, Slack updates, AI-</a:t>
            </a:r>
            <a:r>
              <a:rPr lang="nl-NL" dirty="0" err="1"/>
              <a:t>shoutouts</a:t>
            </a:r>
            <a:endParaRPr lang="nl-NL" dirty="0"/>
          </a:p>
          <a:p>
            <a:pPr>
              <a:buNone/>
            </a:pPr>
            <a:r>
              <a:rPr lang="nl-NL" b="1" dirty="0"/>
              <a:t>5. Impact op lange termijn</a:t>
            </a:r>
          </a:p>
          <a:p>
            <a:pPr>
              <a:buFont typeface="Arial" panose="020B0604020202020204" pitchFamily="34" charset="0"/>
              <a:buChar char="•"/>
            </a:pPr>
            <a:r>
              <a:rPr lang="nl-NL" dirty="0"/>
              <a:t>Elk team levert bewijs van waarde: “wat zou dit normaal hebben gekost/gewerkt?”</a:t>
            </a:r>
          </a:p>
          <a:p>
            <a:pPr>
              <a:buFont typeface="Arial" panose="020B0604020202020204" pitchFamily="34" charset="0"/>
              <a:buChar char="•"/>
            </a:pPr>
            <a:r>
              <a:rPr lang="nl-NL" dirty="0" err="1"/>
              <a:t>MVP’s</a:t>
            </a:r>
            <a:r>
              <a:rPr lang="nl-NL" dirty="0"/>
              <a:t> worden na de Challenge opgenomen in ons portfolio of </a:t>
            </a:r>
            <a:r>
              <a:rPr lang="nl-NL" dirty="0" err="1"/>
              <a:t>geproductificeerd</a:t>
            </a:r>
            <a:endParaRPr lang="nl-NL" dirty="0"/>
          </a:p>
          <a:p>
            <a:pPr>
              <a:buFont typeface="Arial" panose="020B0604020202020204" pitchFamily="34" charset="0"/>
              <a:buChar char="•"/>
            </a:pPr>
            <a:r>
              <a:rPr lang="nl-NL" dirty="0"/>
              <a:t>Wat hier geleerd wordt, vormt de standaard voor 2025 en verder</a:t>
            </a:r>
          </a:p>
          <a:p>
            <a:r>
              <a:rPr lang="nl-NL" b="1" dirty="0"/>
              <a:t>Doel: dat iedereen bij Inpact over 5 jaar nog weet waar hij was tijdens de AI Challenge van 2025.</a:t>
            </a:r>
            <a:endParaRPr lang="nl-NL" dirty="0"/>
          </a:p>
          <a:p>
            <a:endParaRPr lang="en-GB" dirty="0"/>
          </a:p>
        </p:txBody>
      </p:sp>
      <p:sp>
        <p:nvSpPr>
          <p:cNvPr id="4" name="Slide Number Placeholder 3"/>
          <p:cNvSpPr>
            <a:spLocks noGrp="1"/>
          </p:cNvSpPr>
          <p:nvPr>
            <p:ph type="sldNum" sz="quarter" idx="5"/>
          </p:nvPr>
        </p:nvSpPr>
        <p:spPr/>
        <p:txBody>
          <a:bodyPr/>
          <a:lstStyle/>
          <a:p>
            <a:fld id="{77664ACB-A513-4A94-AC46-0A5BFEDFD840}" type="slidenum">
              <a:rPr lang="nl-NL" smtClean="0"/>
              <a:t>11</a:t>
            </a:fld>
            <a:endParaRPr lang="nl-NL"/>
          </a:p>
        </p:txBody>
      </p:sp>
    </p:spTree>
    <p:extLst>
      <p:ext uri="{BB962C8B-B14F-4D97-AF65-F5344CB8AC3E}">
        <p14:creationId xmlns:p14="http://schemas.microsoft.com/office/powerpoint/2010/main" val="2403156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cases </a:t>
            </a:r>
            <a:r>
              <a:rPr lang="en-GB" dirty="0" err="1"/>
              <a:t>benoemen</a:t>
            </a:r>
            <a:r>
              <a:rPr lang="en-GB" dirty="0"/>
              <a:t> en </a:t>
            </a:r>
            <a:r>
              <a:rPr lang="en-GB" dirty="0" err="1"/>
              <a:t>mensen</a:t>
            </a:r>
            <a:r>
              <a:rPr lang="en-GB" dirty="0"/>
              <a:t> </a:t>
            </a:r>
            <a:r>
              <a:rPr lang="en-GB" dirty="0" err="1"/>
              <a:t>mogen</a:t>
            </a:r>
            <a:r>
              <a:rPr lang="en-GB" dirty="0"/>
              <a:t> </a:t>
            </a:r>
            <a:r>
              <a:rPr lang="en-GB" dirty="0" err="1"/>
              <a:t>inschrijven</a:t>
            </a:r>
            <a:r>
              <a:rPr lang="en-GB" dirty="0"/>
              <a:t>. </a:t>
            </a:r>
            <a:r>
              <a:rPr lang="en-GB" dirty="0" err="1"/>
              <a:t>Deelname</a:t>
            </a:r>
            <a:r>
              <a:rPr lang="en-GB" dirty="0"/>
              <a:t> challenge is </a:t>
            </a:r>
            <a:r>
              <a:rPr lang="en-GB" dirty="0" err="1"/>
              <a:t>niet</a:t>
            </a:r>
            <a:endParaRPr lang="en-GB" dirty="0"/>
          </a:p>
        </p:txBody>
      </p:sp>
      <p:sp>
        <p:nvSpPr>
          <p:cNvPr id="4" name="Slide Number Placeholder 3"/>
          <p:cNvSpPr>
            <a:spLocks noGrp="1"/>
          </p:cNvSpPr>
          <p:nvPr>
            <p:ph type="sldNum" sz="quarter" idx="5"/>
          </p:nvPr>
        </p:nvSpPr>
        <p:spPr/>
        <p:txBody>
          <a:bodyPr/>
          <a:lstStyle/>
          <a:p>
            <a:fld id="{77664ACB-A513-4A94-AC46-0A5BFEDFD840}" type="slidenum">
              <a:rPr lang="nl-NL" smtClean="0"/>
              <a:t>13</a:t>
            </a:fld>
            <a:endParaRPr lang="nl-NL"/>
          </a:p>
        </p:txBody>
      </p:sp>
    </p:spTree>
    <p:extLst>
      <p:ext uri="{BB962C8B-B14F-4D97-AF65-F5344CB8AC3E}">
        <p14:creationId xmlns:p14="http://schemas.microsoft.com/office/powerpoint/2010/main" val="36196141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Freeform 2">
            <a:extLst>
              <a:ext uri="{FF2B5EF4-FFF2-40B4-BE49-F238E27FC236}">
                <a16:creationId xmlns:a16="http://schemas.microsoft.com/office/drawing/2014/main" id="{01F1AA80-13AD-AC24-128C-8D9EF7FE2229}"/>
              </a:ext>
            </a:extLst>
          </p:cNvPr>
          <p:cNvSpPr>
            <a:spLocks noChangeAspect="1"/>
          </p:cNvSpPr>
          <p:nvPr userDrawn="1"/>
        </p:nvSpPr>
        <p:spPr>
          <a:xfrm>
            <a:off x="-32825" y="-15558"/>
            <a:ext cx="12306270" cy="6912000"/>
          </a:xfrm>
          <a:custGeom>
            <a:avLst/>
            <a:gdLst/>
            <a:ahLst/>
            <a:cxnLst/>
            <a:rect l="l" t="t" r="r" b="b"/>
            <a:pathLst>
              <a:path w="18587591" h="10440030">
                <a:moveTo>
                  <a:pt x="0" y="0"/>
                </a:moveTo>
                <a:lnTo>
                  <a:pt x="18587590" y="0"/>
                </a:lnTo>
                <a:lnTo>
                  <a:pt x="18587590" y="10440030"/>
                </a:lnTo>
                <a:lnTo>
                  <a:pt x="0" y="10440030"/>
                </a:lnTo>
                <a:lnTo>
                  <a:pt x="0" y="0"/>
                </a:lnTo>
                <a:close/>
              </a:path>
            </a:pathLst>
          </a:custGeom>
          <a:blipFill>
            <a:blip r:embed="rId2"/>
            <a:stretch>
              <a:fillRect/>
            </a:stretch>
          </a:blipFill>
        </p:spPr>
        <p:txBody>
          <a:bodyPr/>
          <a:lstStyle/>
          <a:p>
            <a:endParaRPr lang="en-NL"/>
          </a:p>
        </p:txBody>
      </p:sp>
      <p:sp>
        <p:nvSpPr>
          <p:cNvPr id="2" name="Title 1">
            <a:extLst>
              <a:ext uri="{FF2B5EF4-FFF2-40B4-BE49-F238E27FC236}">
                <a16:creationId xmlns:a16="http://schemas.microsoft.com/office/drawing/2014/main" id="{50BE13B9-DA9F-D401-A1A1-41F40C588D0C}"/>
              </a:ext>
            </a:extLst>
          </p:cNvPr>
          <p:cNvSpPr>
            <a:spLocks noGrp="1"/>
          </p:cNvSpPr>
          <p:nvPr>
            <p:ph type="ctrTitle"/>
          </p:nvPr>
        </p:nvSpPr>
        <p:spPr>
          <a:xfrm>
            <a:off x="1524000" y="1122363"/>
            <a:ext cx="9144000" cy="2387600"/>
          </a:xfrm>
        </p:spPr>
        <p:txBody>
          <a:bodyPr anchor="b"/>
          <a:lstStyle>
            <a:lvl1pPr algn="ctr">
              <a:defRPr sz="6000" b="1">
                <a:solidFill>
                  <a:schemeClr val="bg1"/>
                </a:solidFill>
                <a:latin typeface="Pacaembu Bold" panose="020B0604020202020204" charset="0"/>
                <a:ea typeface="Pacaembu Bold" panose="020B060402020202020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a:t>Click to edit Master title style</a:t>
            </a:r>
            <a:endParaRPr lang="nl-NL"/>
          </a:p>
        </p:txBody>
      </p:sp>
      <p:sp>
        <p:nvSpPr>
          <p:cNvPr id="3" name="Subtitle 2">
            <a:extLst>
              <a:ext uri="{FF2B5EF4-FFF2-40B4-BE49-F238E27FC236}">
                <a16:creationId xmlns:a16="http://schemas.microsoft.com/office/drawing/2014/main" id="{CDD56BD8-CDFA-00A0-94D8-DE94439414CC}"/>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Poppins" panose="00000500000000000000" pitchFamily="2" charset="0"/>
                <a:cs typeface="Poppins"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Tree>
    <p:extLst>
      <p:ext uri="{BB962C8B-B14F-4D97-AF65-F5344CB8AC3E}">
        <p14:creationId xmlns:p14="http://schemas.microsoft.com/office/powerpoint/2010/main" val="2919415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lauw 2">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F462FEBA-E470-AC52-8330-551EA7B4222A}"/>
              </a:ext>
            </a:extLst>
          </p:cNvPr>
          <p:cNvSpPr>
            <a:spLocks noChangeAspect="1"/>
          </p:cNvSpPr>
          <p:nvPr userDrawn="1"/>
        </p:nvSpPr>
        <p:spPr>
          <a:xfrm>
            <a:off x="-96143" y="-29024"/>
            <a:ext cx="12312000" cy="6915240"/>
          </a:xfrm>
          <a:custGeom>
            <a:avLst/>
            <a:gdLst/>
            <a:ahLst/>
            <a:cxnLst/>
            <a:rect l="l" t="t" r="r" b="b"/>
            <a:pathLst>
              <a:path w="18585883" h="10439071">
                <a:moveTo>
                  <a:pt x="0" y="0"/>
                </a:moveTo>
                <a:lnTo>
                  <a:pt x="18585883" y="0"/>
                </a:lnTo>
                <a:lnTo>
                  <a:pt x="18585883" y="10439071"/>
                </a:lnTo>
                <a:lnTo>
                  <a:pt x="0" y="10439071"/>
                </a:lnTo>
                <a:lnTo>
                  <a:pt x="0" y="0"/>
                </a:lnTo>
                <a:close/>
              </a:path>
            </a:pathLst>
          </a:custGeom>
          <a:blipFill>
            <a:blip r:embed="rId2"/>
            <a:stretch>
              <a:fillRect/>
            </a:stretch>
          </a:blipFill>
        </p:spPr>
        <p:txBody>
          <a:bodyPr/>
          <a:lstStyle/>
          <a:p>
            <a:endParaRPr lang="en-NL"/>
          </a:p>
        </p:txBody>
      </p:sp>
      <p:sp>
        <p:nvSpPr>
          <p:cNvPr id="2" name="Title 1">
            <a:extLst>
              <a:ext uri="{FF2B5EF4-FFF2-40B4-BE49-F238E27FC236}">
                <a16:creationId xmlns:a16="http://schemas.microsoft.com/office/drawing/2014/main" id="{C2016BBF-DCDA-97F1-2F7F-A95D66DB016E}"/>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C1F5200F-06CF-EAE2-B07C-5DFB10F6ED85}"/>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3558045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Blauw 3">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5966C31B-F085-A9E9-D539-C0554D2DEDE8}"/>
              </a:ext>
            </a:extLst>
          </p:cNvPr>
          <p:cNvSpPr>
            <a:spLocks noChangeAspect="1"/>
          </p:cNvSpPr>
          <p:nvPr userDrawn="1"/>
        </p:nvSpPr>
        <p:spPr>
          <a:xfrm>
            <a:off x="-40417" y="-32083"/>
            <a:ext cx="12306231" cy="6912000"/>
          </a:xfrm>
          <a:custGeom>
            <a:avLst/>
            <a:gdLst/>
            <a:ahLst/>
            <a:cxnLst/>
            <a:rect l="l" t="t" r="r" b="b"/>
            <a:pathLst>
              <a:path w="18586645" h="10439499">
                <a:moveTo>
                  <a:pt x="0" y="0"/>
                </a:moveTo>
                <a:lnTo>
                  <a:pt x="18586644" y="0"/>
                </a:lnTo>
                <a:lnTo>
                  <a:pt x="18586644" y="10439498"/>
                </a:lnTo>
                <a:lnTo>
                  <a:pt x="0" y="10439498"/>
                </a:lnTo>
                <a:lnTo>
                  <a:pt x="0" y="0"/>
                </a:lnTo>
                <a:close/>
              </a:path>
            </a:pathLst>
          </a:custGeom>
          <a:blipFill>
            <a:blip r:embed="rId2"/>
            <a:stretch>
              <a:fillRect/>
            </a:stretch>
          </a:blipFill>
        </p:spPr>
        <p:txBody>
          <a:bodyPr/>
          <a:lstStyle/>
          <a:p>
            <a:endParaRPr lang="en-NL"/>
          </a:p>
        </p:txBody>
      </p:sp>
      <p:sp>
        <p:nvSpPr>
          <p:cNvPr id="2" name="Title 1">
            <a:extLst>
              <a:ext uri="{FF2B5EF4-FFF2-40B4-BE49-F238E27FC236}">
                <a16:creationId xmlns:a16="http://schemas.microsoft.com/office/drawing/2014/main" id="{C2016BBF-DCDA-97F1-2F7F-A95D66DB016E}"/>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C1F5200F-06CF-EAE2-B07C-5DFB10F6ED85}"/>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2774100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Wit 1">
    <p:spTree>
      <p:nvGrpSpPr>
        <p:cNvPr id="1" name=""/>
        <p:cNvGrpSpPr/>
        <p:nvPr/>
      </p:nvGrpSpPr>
      <p:grpSpPr>
        <a:xfrm>
          <a:off x="0" y="0"/>
          <a:ext cx="0" cy="0"/>
          <a:chOff x="0" y="0"/>
          <a:chExt cx="0" cy="0"/>
        </a:xfrm>
      </p:grpSpPr>
      <p:sp>
        <p:nvSpPr>
          <p:cNvPr id="5" name="Freeform 2">
            <a:extLst>
              <a:ext uri="{FF2B5EF4-FFF2-40B4-BE49-F238E27FC236}">
                <a16:creationId xmlns:a16="http://schemas.microsoft.com/office/drawing/2014/main" id="{A118271C-7315-3760-792D-4B226C802E7A}"/>
              </a:ext>
            </a:extLst>
          </p:cNvPr>
          <p:cNvSpPr>
            <a:spLocks noChangeAspect="1"/>
          </p:cNvSpPr>
          <p:nvPr userDrawn="1"/>
        </p:nvSpPr>
        <p:spPr>
          <a:xfrm>
            <a:off x="-29177" y="-4875"/>
            <a:ext cx="12204000" cy="6864750"/>
          </a:xfrm>
          <a:custGeom>
            <a:avLst/>
            <a:gdLst/>
            <a:ahLst/>
            <a:cxnLst/>
            <a:rect l="l" t="t" r="r" b="b"/>
            <a:pathLst>
              <a:path w="18530042" h="10423149">
                <a:moveTo>
                  <a:pt x="0" y="0"/>
                </a:moveTo>
                <a:lnTo>
                  <a:pt x="18530043" y="0"/>
                </a:lnTo>
                <a:lnTo>
                  <a:pt x="18530043" y="10423149"/>
                </a:lnTo>
                <a:lnTo>
                  <a:pt x="0" y="10423149"/>
                </a:lnTo>
                <a:lnTo>
                  <a:pt x="0" y="0"/>
                </a:lnTo>
                <a:close/>
              </a:path>
            </a:pathLst>
          </a:custGeom>
          <a:blipFill>
            <a:blip r:embed="rId2"/>
            <a:stretch>
              <a:fillRect l="-148" r="-148"/>
            </a:stretch>
          </a:blipFill>
        </p:spPr>
        <p:txBody>
          <a:bodyPr/>
          <a:lstStyle/>
          <a:p>
            <a:endParaRPr lang="en-NL"/>
          </a:p>
        </p:txBody>
      </p:sp>
      <p:sp>
        <p:nvSpPr>
          <p:cNvPr id="2" name="Title 1">
            <a:extLst>
              <a:ext uri="{FF2B5EF4-FFF2-40B4-BE49-F238E27FC236}">
                <a16:creationId xmlns:a16="http://schemas.microsoft.com/office/drawing/2014/main" id="{C2016BBF-DCDA-97F1-2F7F-A95D66DB016E}"/>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C1F5200F-06CF-EAE2-B07C-5DFB10F6ED85}"/>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481881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Wit 2">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D4F56BBD-007C-B948-77A1-D6A8ADB90F2E}"/>
              </a:ext>
            </a:extLst>
          </p:cNvPr>
          <p:cNvSpPr>
            <a:spLocks noChangeAspect="1"/>
          </p:cNvSpPr>
          <p:nvPr userDrawn="1"/>
        </p:nvSpPr>
        <p:spPr>
          <a:xfrm>
            <a:off x="-32221" y="-5046"/>
            <a:ext cx="12204000" cy="6864750"/>
          </a:xfrm>
          <a:custGeom>
            <a:avLst/>
            <a:gdLst/>
            <a:ahLst/>
            <a:cxnLst/>
            <a:rect l="l" t="t" r="r" b="b"/>
            <a:pathLst>
              <a:path w="18516211" h="10415369">
                <a:moveTo>
                  <a:pt x="0" y="0"/>
                </a:moveTo>
                <a:lnTo>
                  <a:pt x="18516212" y="0"/>
                </a:lnTo>
                <a:lnTo>
                  <a:pt x="18516212" y="10415368"/>
                </a:lnTo>
                <a:lnTo>
                  <a:pt x="0" y="10415368"/>
                </a:lnTo>
                <a:lnTo>
                  <a:pt x="0" y="0"/>
                </a:lnTo>
                <a:close/>
              </a:path>
            </a:pathLst>
          </a:custGeom>
          <a:blipFill>
            <a:blip r:embed="rId2"/>
            <a:stretch>
              <a:fillRect l="-74" r="-74"/>
            </a:stretch>
          </a:blipFill>
        </p:spPr>
        <p:txBody>
          <a:bodyPr/>
          <a:lstStyle/>
          <a:p>
            <a:endParaRPr lang="en-NL"/>
          </a:p>
        </p:txBody>
      </p:sp>
      <p:sp>
        <p:nvSpPr>
          <p:cNvPr id="2" name="Title 1">
            <a:extLst>
              <a:ext uri="{FF2B5EF4-FFF2-40B4-BE49-F238E27FC236}">
                <a16:creationId xmlns:a16="http://schemas.microsoft.com/office/drawing/2014/main" id="{C2016BBF-DCDA-97F1-2F7F-A95D66DB016E}"/>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C1F5200F-06CF-EAE2-B07C-5DFB10F6ED85}"/>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19925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Wit 3">
    <p:spTree>
      <p:nvGrpSpPr>
        <p:cNvPr id="1" name=""/>
        <p:cNvGrpSpPr/>
        <p:nvPr/>
      </p:nvGrpSpPr>
      <p:grpSpPr>
        <a:xfrm>
          <a:off x="0" y="0"/>
          <a:ext cx="0" cy="0"/>
          <a:chOff x="0" y="0"/>
          <a:chExt cx="0" cy="0"/>
        </a:xfrm>
      </p:grpSpPr>
      <p:sp>
        <p:nvSpPr>
          <p:cNvPr id="5" name="Freeform 2">
            <a:extLst>
              <a:ext uri="{FF2B5EF4-FFF2-40B4-BE49-F238E27FC236}">
                <a16:creationId xmlns:a16="http://schemas.microsoft.com/office/drawing/2014/main" id="{06A8B41A-00E9-0D6B-D1A1-E9E7E7B3A8A4}"/>
              </a:ext>
            </a:extLst>
          </p:cNvPr>
          <p:cNvSpPr>
            <a:spLocks noChangeAspect="1"/>
          </p:cNvSpPr>
          <p:nvPr userDrawn="1"/>
        </p:nvSpPr>
        <p:spPr>
          <a:xfrm>
            <a:off x="-34317" y="1761"/>
            <a:ext cx="12276000" cy="6905250"/>
          </a:xfrm>
          <a:custGeom>
            <a:avLst/>
            <a:gdLst/>
            <a:ahLst/>
            <a:cxnLst/>
            <a:rect l="l" t="t" r="r" b="b"/>
            <a:pathLst>
              <a:path w="18533500" h="10425094">
                <a:moveTo>
                  <a:pt x="0" y="0"/>
                </a:moveTo>
                <a:lnTo>
                  <a:pt x="18533501" y="0"/>
                </a:lnTo>
                <a:lnTo>
                  <a:pt x="18533501" y="10425094"/>
                </a:lnTo>
                <a:lnTo>
                  <a:pt x="0" y="10425094"/>
                </a:lnTo>
                <a:lnTo>
                  <a:pt x="0" y="0"/>
                </a:lnTo>
                <a:close/>
              </a:path>
            </a:pathLst>
          </a:custGeom>
          <a:blipFill>
            <a:blip r:embed="rId2"/>
            <a:stretch>
              <a:fillRect t="-148" b="-148"/>
            </a:stretch>
          </a:blipFill>
        </p:spPr>
        <p:txBody>
          <a:bodyPr/>
          <a:lstStyle/>
          <a:p>
            <a:endParaRPr lang="en-NL"/>
          </a:p>
        </p:txBody>
      </p:sp>
      <p:sp>
        <p:nvSpPr>
          <p:cNvPr id="2" name="Title 1">
            <a:extLst>
              <a:ext uri="{FF2B5EF4-FFF2-40B4-BE49-F238E27FC236}">
                <a16:creationId xmlns:a16="http://schemas.microsoft.com/office/drawing/2014/main" id="{C2016BBF-DCDA-97F1-2F7F-A95D66DB016E}"/>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C1F5200F-06CF-EAE2-B07C-5DFB10F6ED85}"/>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2151098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4493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F6E5C8-7827-0A55-3A7C-AC64130959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46F846AE-FF49-D7BD-BA08-5E03DFB890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4174177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63" r:id="rId6"/>
    <p:sldLayoutId id="2147483664" r:id="rId7"/>
  </p:sldLayoutIdLst>
  <p:txStyles>
    <p:titleStyle>
      <a:lvl1pPr algn="l" defTabSz="914400" rtl="0" eaLnBrk="1" latinLnBrk="0" hangingPunct="1">
        <a:lnSpc>
          <a:spcPct val="90000"/>
        </a:lnSpc>
        <a:spcBef>
          <a:spcPct val="0"/>
        </a:spcBef>
        <a:buNone/>
        <a:defRPr sz="4400" b="1" kern="1200">
          <a:solidFill>
            <a:schemeClr val="tx1"/>
          </a:solidFill>
          <a:latin typeface="Pacaembu Bold" panose="020B0604020202020204" charset="0"/>
          <a:ea typeface="Pacaembu Bold" panose="020B060402020202020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AI Challenge </a:t>
            </a:r>
            <a:r>
              <a:rPr lang="nl-NL" dirty="0"/>
              <a:t>Q3</a:t>
            </a:r>
            <a:r>
              <a:rPr dirty="0"/>
              <a:t>25</a:t>
            </a:r>
          </a:p>
        </p:txBody>
      </p:sp>
      <p:sp>
        <p:nvSpPr>
          <p:cNvPr id="3" name="Subtitle 2"/>
          <p:cNvSpPr>
            <a:spLocks noGrp="1"/>
          </p:cNvSpPr>
          <p:nvPr>
            <p:ph type="subTitle" idx="1"/>
          </p:nvPr>
        </p:nvSpPr>
        <p:spPr/>
        <p:txBody>
          <a:bodyPr/>
          <a:lstStyle/>
          <a:p>
            <a:r>
              <a:rPr dirty="0" err="1"/>
              <a:t>Versnelling</a:t>
            </a:r>
            <a:r>
              <a:rPr dirty="0"/>
              <a:t>. </a:t>
            </a:r>
            <a:r>
              <a:rPr lang="nl-NL" dirty="0"/>
              <a:t>Verbetering. Uitbreiding. Groei!</a:t>
            </a:r>
            <a:br>
              <a:rPr lang="nl-NL" dirty="0"/>
            </a:br>
            <a:br>
              <a:rPr lang="nl-NL" dirty="0"/>
            </a:br>
            <a:r>
              <a:rPr lang="nl-NL" dirty="0"/>
              <a:t>Van AI assistentie naar AI </a:t>
            </a:r>
            <a:r>
              <a:rPr lang="nl-NL" dirty="0" err="1"/>
              <a:t>Agents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2D060-869D-18F7-7989-10E0DEAFD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97F4E-3110-E434-B94A-B080A56400C6}"/>
              </a:ext>
            </a:extLst>
          </p:cNvPr>
          <p:cNvSpPr>
            <a:spLocks noGrp="1"/>
          </p:cNvSpPr>
          <p:nvPr>
            <p:ph type="title"/>
          </p:nvPr>
        </p:nvSpPr>
        <p:spPr/>
        <p:txBody>
          <a:bodyPr/>
          <a:lstStyle/>
          <a:p>
            <a:r>
              <a:rPr dirty="0" err="1"/>
              <a:t>Waarom</a:t>
            </a:r>
            <a:r>
              <a:rPr dirty="0"/>
              <a:t> </a:t>
            </a:r>
            <a:r>
              <a:rPr dirty="0" err="1"/>
              <a:t>deze</a:t>
            </a:r>
            <a:r>
              <a:rPr dirty="0"/>
              <a:t> AI Challenge?</a:t>
            </a:r>
          </a:p>
        </p:txBody>
      </p:sp>
      <p:sp>
        <p:nvSpPr>
          <p:cNvPr id="3" name="Content Placeholder 2">
            <a:extLst>
              <a:ext uri="{FF2B5EF4-FFF2-40B4-BE49-F238E27FC236}">
                <a16:creationId xmlns:a16="http://schemas.microsoft.com/office/drawing/2014/main" id="{69AAA530-421F-7170-1884-929B331A6159}"/>
              </a:ext>
            </a:extLst>
          </p:cNvPr>
          <p:cNvSpPr>
            <a:spLocks noGrp="1"/>
          </p:cNvSpPr>
          <p:nvPr>
            <p:ph idx="1"/>
          </p:nvPr>
        </p:nvSpPr>
        <p:spPr/>
        <p:txBody>
          <a:bodyPr/>
          <a:lstStyle/>
          <a:p>
            <a:r>
              <a:rPr dirty="0"/>
              <a:t>✔️ </a:t>
            </a:r>
            <a:r>
              <a:rPr lang="nl-NL" dirty="0"/>
              <a:t>Focus en urgentie creëren bij alle </a:t>
            </a:r>
            <a:r>
              <a:rPr lang="nl-NL" dirty="0" err="1"/>
              <a:t>Inpacters</a:t>
            </a:r>
            <a:endParaRPr lang="nl-NL" dirty="0"/>
          </a:p>
          <a:p>
            <a:r>
              <a:rPr dirty="0"/>
              <a:t>✔️ </a:t>
            </a:r>
            <a:r>
              <a:rPr lang="nl-NL" dirty="0"/>
              <a:t>Nog sneller meer snelheid maken</a:t>
            </a:r>
            <a:endParaRPr dirty="0"/>
          </a:p>
          <a:p>
            <a:r>
              <a:rPr dirty="0"/>
              <a:t>✔️ </a:t>
            </a:r>
            <a:r>
              <a:rPr lang="nl-NL" dirty="0"/>
              <a:t>Voorsprong op concurrentie nemen</a:t>
            </a:r>
            <a:endParaRPr dirty="0"/>
          </a:p>
          <a:p>
            <a:r>
              <a:rPr dirty="0"/>
              <a:t>🎯</a:t>
            </a:r>
            <a:r>
              <a:rPr lang="nl-NL" dirty="0"/>
              <a:t> Doel: Inpact transformeren naar AI First bedrijf en </a:t>
            </a:r>
            <a:r>
              <a:rPr lang="nl-NL" u="sng" dirty="0"/>
              <a:t>de</a:t>
            </a:r>
            <a:r>
              <a:rPr lang="nl-NL" dirty="0"/>
              <a:t> AI partner in haar markt</a:t>
            </a:r>
            <a:endParaRPr dirty="0"/>
          </a:p>
        </p:txBody>
      </p:sp>
    </p:spTree>
    <p:extLst>
      <p:ext uri="{BB962C8B-B14F-4D97-AF65-F5344CB8AC3E}">
        <p14:creationId xmlns:p14="http://schemas.microsoft.com/office/powerpoint/2010/main" val="3899124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840BB-48C9-9D91-72DE-A7C06A634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EAC7D-1CCC-50F5-C1E9-B9DD4F64C96D}"/>
              </a:ext>
            </a:extLst>
          </p:cNvPr>
          <p:cNvSpPr>
            <a:spLocks noGrp="1"/>
          </p:cNvSpPr>
          <p:nvPr>
            <p:ph type="title"/>
          </p:nvPr>
        </p:nvSpPr>
        <p:spPr/>
        <p:txBody>
          <a:bodyPr/>
          <a:lstStyle/>
          <a:p>
            <a:r>
              <a:rPr lang="en-US" b="1" dirty="0" err="1"/>
              <a:t>Strategisch</a:t>
            </a:r>
            <a:r>
              <a:rPr lang="en-US" b="1" dirty="0"/>
              <a:t> </a:t>
            </a:r>
            <a:r>
              <a:rPr lang="en-US" b="1" dirty="0" err="1"/>
              <a:t>kader</a:t>
            </a:r>
            <a:r>
              <a:rPr lang="en-US" b="1" dirty="0"/>
              <a:t>: AI First = Business First</a:t>
            </a:r>
          </a:p>
        </p:txBody>
      </p:sp>
      <p:sp>
        <p:nvSpPr>
          <p:cNvPr id="3" name="Content Placeholder 2">
            <a:extLst>
              <a:ext uri="{FF2B5EF4-FFF2-40B4-BE49-F238E27FC236}">
                <a16:creationId xmlns:a16="http://schemas.microsoft.com/office/drawing/2014/main" id="{ABF93220-CDE7-1EAF-8536-1FEE9D513EAC}"/>
              </a:ext>
            </a:extLst>
          </p:cNvPr>
          <p:cNvSpPr>
            <a:spLocks noGrp="1"/>
          </p:cNvSpPr>
          <p:nvPr>
            <p:ph idx="1"/>
          </p:nvPr>
        </p:nvSpPr>
        <p:spPr>
          <a:xfrm>
            <a:off x="838200" y="1690688"/>
            <a:ext cx="10911214" cy="4486275"/>
          </a:xfrm>
        </p:spPr>
        <p:txBody>
          <a:bodyPr>
            <a:normAutofit fontScale="92500" lnSpcReduction="20000"/>
          </a:bodyPr>
          <a:lstStyle/>
          <a:p>
            <a:pPr marL="87313" indent="0">
              <a:buNone/>
            </a:pPr>
            <a:r>
              <a:rPr lang="nl-NL" dirty="0"/>
              <a:t>AI Challenge is een versneller van onze bredere AI First strategie:</a:t>
            </a:r>
          </a:p>
          <a:p>
            <a:pPr marL="538163" indent="-538163">
              <a:buNone/>
            </a:pPr>
            <a:r>
              <a:rPr lang="nl-NL" dirty="0"/>
              <a:t>✔️ Van handwerk naar automatisering, van wachten naar versnellen</a:t>
            </a:r>
          </a:p>
          <a:p>
            <a:pPr marL="538163" indent="-538163">
              <a:buNone/>
            </a:pPr>
            <a:r>
              <a:rPr lang="nl-NL" dirty="0"/>
              <a:t>✔️ Inpact als proeftuin én voorloper in AI-gedreven bedrijfsvoering</a:t>
            </a:r>
          </a:p>
          <a:p>
            <a:pPr marL="538163" indent="-538163">
              <a:buNone/>
            </a:pPr>
            <a:r>
              <a:rPr lang="nl-NL" dirty="0"/>
              <a:t>✔️ De Challenge levert de </a:t>
            </a:r>
            <a:r>
              <a:rPr lang="nl-NL" dirty="0" err="1"/>
              <a:t>proof</a:t>
            </a:r>
            <a:r>
              <a:rPr lang="nl-NL" dirty="0"/>
              <a:t> points die we nodig hebben voor opschaling</a:t>
            </a:r>
          </a:p>
          <a:p>
            <a:pPr marL="538163" indent="-538163">
              <a:buNone/>
            </a:pPr>
            <a:r>
              <a:rPr lang="nl-NL" dirty="0"/>
              <a:t>✔️ Teams leren AI gebruiken in de kern van hun werk, niet ernaast</a:t>
            </a:r>
          </a:p>
          <a:p>
            <a:pPr marL="538163" indent="-538163">
              <a:buNone/>
            </a:pPr>
            <a:r>
              <a:rPr lang="nl-NL" dirty="0"/>
              <a:t>✔️ Strategische doelen worden sneller, goedkoper en consistenter bereikt</a:t>
            </a:r>
          </a:p>
          <a:p>
            <a:pPr marL="0" indent="0">
              <a:buNone/>
            </a:pPr>
            <a:r>
              <a:rPr lang="nl-NL" dirty="0"/>
              <a:t>Deze 13 weken </a:t>
            </a:r>
            <a:r>
              <a:rPr lang="nl-NL" u="sng" dirty="0"/>
              <a:t>zijn</a:t>
            </a:r>
            <a:r>
              <a:rPr lang="nl-NL" dirty="0"/>
              <a:t> de basis voor hoe wij </a:t>
            </a:r>
            <a:r>
              <a:rPr lang="nl-NL" u="sng" dirty="0"/>
              <a:t>permanent AI inzetten</a:t>
            </a:r>
            <a:r>
              <a:rPr lang="nl-NL" dirty="0"/>
              <a:t>.</a:t>
            </a:r>
          </a:p>
          <a:p>
            <a:endParaRPr lang="nl-NL" dirty="0"/>
          </a:p>
        </p:txBody>
      </p:sp>
    </p:spTree>
    <p:extLst>
      <p:ext uri="{BB962C8B-B14F-4D97-AF65-F5344CB8AC3E}">
        <p14:creationId xmlns:p14="http://schemas.microsoft.com/office/powerpoint/2010/main" val="24105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8B143-F24A-CC78-81EC-0460DA49CF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1358C-762D-76FF-A8E7-C5F5F1DE5881}"/>
              </a:ext>
            </a:extLst>
          </p:cNvPr>
          <p:cNvSpPr>
            <a:spLocks noGrp="1"/>
          </p:cNvSpPr>
          <p:nvPr>
            <p:ph type="ctrTitle"/>
          </p:nvPr>
        </p:nvSpPr>
        <p:spPr>
          <a:xfrm>
            <a:off x="1524000" y="1122363"/>
            <a:ext cx="9144000" cy="1821253"/>
          </a:xfrm>
        </p:spPr>
        <p:txBody>
          <a:bodyPr/>
          <a:lstStyle/>
          <a:p>
            <a:r>
              <a:rPr lang="nl-NL" dirty="0"/>
              <a:t>AI 1st, #1 in AI</a:t>
            </a:r>
            <a:endParaRPr dirty="0"/>
          </a:p>
        </p:txBody>
      </p:sp>
      <p:sp>
        <p:nvSpPr>
          <p:cNvPr id="3" name="Subtitle 2">
            <a:extLst>
              <a:ext uri="{FF2B5EF4-FFF2-40B4-BE49-F238E27FC236}">
                <a16:creationId xmlns:a16="http://schemas.microsoft.com/office/drawing/2014/main" id="{BCE28BBE-1F10-94ED-A90F-8F892EA64D7D}"/>
              </a:ext>
            </a:extLst>
          </p:cNvPr>
          <p:cNvSpPr>
            <a:spLocks noGrp="1"/>
          </p:cNvSpPr>
          <p:nvPr>
            <p:ph type="subTitle" idx="1"/>
          </p:nvPr>
        </p:nvSpPr>
        <p:spPr/>
        <p:txBody>
          <a:bodyPr>
            <a:normAutofit/>
          </a:bodyPr>
          <a:lstStyle/>
          <a:p>
            <a:r>
              <a:rPr lang="nl-NL" dirty="0"/>
              <a:t>Get </a:t>
            </a:r>
            <a:r>
              <a:rPr lang="nl-NL" dirty="0" err="1"/>
              <a:t>your</a:t>
            </a:r>
            <a:r>
              <a:rPr lang="nl-NL" dirty="0"/>
              <a:t> AI </a:t>
            </a:r>
            <a:r>
              <a:rPr lang="nl-NL" dirty="0" err="1"/>
              <a:t>skillset</a:t>
            </a:r>
            <a:r>
              <a:rPr lang="nl-NL" dirty="0"/>
              <a:t> </a:t>
            </a:r>
            <a:r>
              <a:rPr lang="nl-NL" dirty="0" err="1"/>
              <a:t>together</a:t>
            </a:r>
            <a:endParaRPr lang="nl-NL" dirty="0"/>
          </a:p>
          <a:p>
            <a:br>
              <a:rPr lang="nl-NL" dirty="0"/>
            </a:br>
            <a:br>
              <a:rPr lang="nl-NL" dirty="0"/>
            </a:br>
            <a:endParaRPr dirty="0"/>
          </a:p>
        </p:txBody>
      </p:sp>
    </p:spTree>
    <p:extLst>
      <p:ext uri="{BB962C8B-B14F-4D97-AF65-F5344CB8AC3E}">
        <p14:creationId xmlns:p14="http://schemas.microsoft.com/office/powerpoint/2010/main" val="2964953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13950-0A97-2C91-01D2-41685B865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BF659-856E-B8CE-7222-8F712A4E1D9B}"/>
              </a:ext>
            </a:extLst>
          </p:cNvPr>
          <p:cNvSpPr>
            <a:spLocks noGrp="1"/>
          </p:cNvSpPr>
          <p:nvPr>
            <p:ph type="ctrTitle"/>
          </p:nvPr>
        </p:nvSpPr>
        <p:spPr>
          <a:xfrm>
            <a:off x="1524000" y="1122363"/>
            <a:ext cx="9144000" cy="1821253"/>
          </a:xfrm>
        </p:spPr>
        <p:txBody>
          <a:bodyPr/>
          <a:lstStyle/>
          <a:p>
            <a:r>
              <a:rPr lang="nl-NL" dirty="0"/>
              <a:t>Get </a:t>
            </a:r>
            <a:r>
              <a:rPr lang="nl-NL" dirty="0" err="1"/>
              <a:t>your</a:t>
            </a:r>
            <a:r>
              <a:rPr lang="nl-NL" dirty="0"/>
              <a:t> AI </a:t>
            </a:r>
            <a:r>
              <a:rPr lang="nl-NL" dirty="0" err="1"/>
              <a:t>skillset</a:t>
            </a:r>
            <a:r>
              <a:rPr lang="nl-NL" dirty="0"/>
              <a:t> </a:t>
            </a:r>
            <a:r>
              <a:rPr lang="nl-NL" dirty="0" err="1"/>
              <a:t>together</a:t>
            </a:r>
            <a:endParaRPr dirty="0"/>
          </a:p>
        </p:txBody>
      </p:sp>
      <p:sp>
        <p:nvSpPr>
          <p:cNvPr id="3" name="Subtitle 2">
            <a:extLst>
              <a:ext uri="{FF2B5EF4-FFF2-40B4-BE49-F238E27FC236}">
                <a16:creationId xmlns:a16="http://schemas.microsoft.com/office/drawing/2014/main" id="{7704C8C7-F46D-EC6E-B5A4-C04BA30CBEF7}"/>
              </a:ext>
            </a:extLst>
          </p:cNvPr>
          <p:cNvSpPr>
            <a:spLocks noGrp="1"/>
          </p:cNvSpPr>
          <p:nvPr>
            <p:ph type="subTitle" idx="1"/>
          </p:nvPr>
        </p:nvSpPr>
        <p:spPr/>
        <p:txBody>
          <a:bodyPr>
            <a:normAutofit fontScale="92500" lnSpcReduction="20000"/>
          </a:bodyPr>
          <a:lstStyle/>
          <a:p>
            <a:r>
              <a:rPr lang="nl-NL" dirty="0"/>
              <a:t>AI verandert alles en biedt ongekende mogelijkheden op succes</a:t>
            </a:r>
          </a:p>
          <a:p>
            <a:endParaRPr lang="nl-NL" dirty="0"/>
          </a:p>
          <a:p>
            <a:r>
              <a:rPr lang="nl-NL" dirty="0"/>
              <a:t>Pak je kans bij Inpact en loop voorop in je AI </a:t>
            </a:r>
            <a:r>
              <a:rPr lang="nl-NL" dirty="0" err="1"/>
              <a:t>Skillset</a:t>
            </a:r>
            <a:r>
              <a:rPr lang="nl-NL" dirty="0"/>
              <a:t> ontwikkeling</a:t>
            </a:r>
            <a:br>
              <a:rPr lang="nl-NL" dirty="0"/>
            </a:br>
            <a:br>
              <a:rPr lang="nl-NL" dirty="0"/>
            </a:br>
            <a:endParaRPr dirty="0"/>
          </a:p>
        </p:txBody>
      </p:sp>
    </p:spTree>
    <p:extLst>
      <p:ext uri="{BB962C8B-B14F-4D97-AF65-F5344CB8AC3E}">
        <p14:creationId xmlns:p14="http://schemas.microsoft.com/office/powerpoint/2010/main" val="2714790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Inpact </a:t>
            </a:r>
            <a:r>
              <a:rPr dirty="0"/>
              <a:t>AI Challenge</a:t>
            </a:r>
            <a:r>
              <a:rPr lang="nl-NL" dirty="0"/>
              <a:t> Q325</a:t>
            </a:r>
            <a:r>
              <a:rPr dirty="0"/>
              <a:t>?</a:t>
            </a:r>
          </a:p>
        </p:txBody>
      </p:sp>
      <p:sp>
        <p:nvSpPr>
          <p:cNvPr id="3" name="Content Placeholder 2"/>
          <p:cNvSpPr>
            <a:spLocks noGrp="1"/>
          </p:cNvSpPr>
          <p:nvPr>
            <p:ph idx="1"/>
          </p:nvPr>
        </p:nvSpPr>
        <p:spPr/>
        <p:txBody>
          <a:bodyPr/>
          <a:lstStyle/>
          <a:p>
            <a:r>
              <a:rPr dirty="0"/>
              <a:t>✔️ 1 </a:t>
            </a:r>
            <a:r>
              <a:rPr dirty="0" err="1"/>
              <a:t>dag</a:t>
            </a:r>
            <a:r>
              <a:rPr dirty="0"/>
              <a:t>/week </a:t>
            </a:r>
            <a:r>
              <a:rPr dirty="0" err="1"/>
              <a:t>gedurende</a:t>
            </a:r>
            <a:r>
              <a:rPr dirty="0"/>
              <a:t> 13 </a:t>
            </a:r>
            <a:r>
              <a:rPr dirty="0" err="1"/>
              <a:t>weken</a:t>
            </a:r>
            <a:endParaRPr dirty="0"/>
          </a:p>
          <a:p>
            <a:r>
              <a:rPr dirty="0"/>
              <a:t>✔️ 90 </a:t>
            </a:r>
            <a:r>
              <a:rPr dirty="0" err="1"/>
              <a:t>mensen</a:t>
            </a:r>
            <a:r>
              <a:rPr dirty="0"/>
              <a:t> in </a:t>
            </a:r>
            <a:r>
              <a:rPr dirty="0" err="1"/>
              <a:t>kleine</a:t>
            </a:r>
            <a:r>
              <a:rPr dirty="0"/>
              <a:t> teams van 5</a:t>
            </a:r>
          </a:p>
          <a:p>
            <a:r>
              <a:rPr dirty="0"/>
              <a:t>✔️ Focus op </a:t>
            </a:r>
            <a:r>
              <a:rPr dirty="0" err="1"/>
              <a:t>werkende</a:t>
            </a:r>
            <a:r>
              <a:rPr dirty="0"/>
              <a:t> AI-</a:t>
            </a:r>
            <a:r>
              <a:rPr dirty="0" err="1"/>
              <a:t>oplossingen</a:t>
            </a:r>
            <a:endParaRPr dirty="0"/>
          </a:p>
          <a:p>
            <a:r>
              <a:rPr dirty="0"/>
              <a:t>🎯 Doel:</a:t>
            </a:r>
            <a:r>
              <a:rPr lang="nl-NL" dirty="0"/>
              <a:t> AI is overal dagelijks onderdeel van het werk</a:t>
            </a:r>
          </a:p>
          <a:p>
            <a:pPr lvl="1"/>
            <a:r>
              <a:rPr lang="nl-NL" dirty="0"/>
              <a:t>🎯</a:t>
            </a:r>
            <a:r>
              <a:rPr dirty="0"/>
              <a:t>SDLC </a:t>
            </a:r>
            <a:r>
              <a:rPr dirty="0" err="1"/>
              <a:t>versnellen</a:t>
            </a:r>
            <a:r>
              <a:rPr lang="nl-NL" dirty="0"/>
              <a:t> en toewerken naar factor 10</a:t>
            </a:r>
          </a:p>
          <a:p>
            <a:pPr lvl="1"/>
            <a:r>
              <a:rPr lang="nl-NL" dirty="0"/>
              <a:t>🎯70% minder effort op support (AI </a:t>
            </a:r>
            <a:r>
              <a:rPr lang="nl-NL" dirty="0" err="1"/>
              <a:t>bugsolving</a:t>
            </a:r>
            <a:r>
              <a:rPr lang="nl-NL" dirty="0"/>
              <a:t>)</a:t>
            </a:r>
          </a:p>
          <a:p>
            <a:pPr lvl="1"/>
            <a:r>
              <a:rPr lang="nl-NL" dirty="0"/>
              <a:t>🎯Verdubbeling aantal verkoopgesprekken</a:t>
            </a:r>
          </a:p>
          <a:p>
            <a:pPr lvl="1">
              <a:tabLst>
                <a:tab pos="893763" algn="l"/>
              </a:tabLst>
            </a:pPr>
            <a:r>
              <a:rPr lang="nl-NL" dirty="0"/>
              <a:t>🎯Opleveren </a:t>
            </a:r>
            <a:r>
              <a:rPr lang="nl-NL" dirty="0" err="1"/>
              <a:t>MVP’s</a:t>
            </a:r>
            <a:r>
              <a:rPr lang="nl-NL" dirty="0"/>
              <a:t> die voor klanten / intern extra waarde 	   		hebben</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b="1" dirty="0"/>
              <a:t>🚀 </a:t>
            </a:r>
            <a:r>
              <a:rPr dirty="0"/>
              <a:t>Wat </a:t>
            </a:r>
            <a:r>
              <a:rPr dirty="0" err="1"/>
              <a:t>willen</a:t>
            </a:r>
            <a:r>
              <a:rPr dirty="0"/>
              <a:t> we </a:t>
            </a:r>
            <a:r>
              <a:rPr dirty="0" err="1"/>
              <a:t>bereiken</a:t>
            </a:r>
            <a:r>
              <a:rPr lang="nl-NL" dirty="0"/>
              <a:t> Q325</a:t>
            </a:r>
            <a:r>
              <a:rPr dirty="0"/>
              <a:t>?</a:t>
            </a:r>
          </a:p>
        </p:txBody>
      </p:sp>
      <p:sp>
        <p:nvSpPr>
          <p:cNvPr id="3" name="Content Placeholder 2"/>
          <p:cNvSpPr>
            <a:spLocks noGrp="1"/>
          </p:cNvSpPr>
          <p:nvPr>
            <p:ph idx="1"/>
          </p:nvPr>
        </p:nvSpPr>
        <p:spPr/>
        <p:txBody>
          <a:bodyPr/>
          <a:lstStyle/>
          <a:p>
            <a:r>
              <a:rPr b="1" dirty="0">
                <a:solidFill>
                  <a:srgbClr val="FFFF00"/>
                </a:solidFill>
              </a:rPr>
              <a:t>⚙️ 10x </a:t>
            </a:r>
            <a:r>
              <a:rPr b="1" dirty="0" err="1">
                <a:solidFill>
                  <a:srgbClr val="FFFF00"/>
                </a:solidFill>
              </a:rPr>
              <a:t>snellere</a:t>
            </a:r>
            <a:r>
              <a:rPr b="1" dirty="0">
                <a:solidFill>
                  <a:srgbClr val="FFFF00"/>
                </a:solidFill>
              </a:rPr>
              <a:t> SDLC met AI</a:t>
            </a:r>
            <a:r>
              <a:rPr lang="nl-NL" b="1" dirty="0">
                <a:solidFill>
                  <a:srgbClr val="FFFF00"/>
                </a:solidFill>
              </a:rPr>
              <a:t> (3 focus teams)</a:t>
            </a:r>
            <a:endParaRPr b="1" dirty="0">
              <a:solidFill>
                <a:srgbClr val="FFFF00"/>
              </a:solidFill>
            </a:endParaRPr>
          </a:p>
          <a:p>
            <a:r>
              <a:rPr b="1" dirty="0">
                <a:solidFill>
                  <a:srgbClr val="FFFF00"/>
                </a:solidFill>
              </a:rPr>
              <a:t>🤖 70% tickets </a:t>
            </a:r>
            <a:r>
              <a:rPr b="1" dirty="0" err="1">
                <a:solidFill>
                  <a:srgbClr val="FFFF00"/>
                </a:solidFill>
              </a:rPr>
              <a:t>automatisch</a:t>
            </a:r>
            <a:r>
              <a:rPr b="1" dirty="0">
                <a:solidFill>
                  <a:srgbClr val="FFFF00"/>
                </a:solidFill>
              </a:rPr>
              <a:t> </a:t>
            </a:r>
            <a:r>
              <a:rPr b="1" dirty="0" err="1">
                <a:solidFill>
                  <a:srgbClr val="FFFF00"/>
                </a:solidFill>
              </a:rPr>
              <a:t>afgehandeld</a:t>
            </a:r>
            <a:r>
              <a:rPr b="1" dirty="0">
                <a:solidFill>
                  <a:srgbClr val="FFFF00"/>
                </a:solidFill>
              </a:rPr>
              <a:t> (incl. source code </a:t>
            </a:r>
            <a:r>
              <a:rPr b="1" dirty="0" err="1">
                <a:solidFill>
                  <a:srgbClr val="FFFF00"/>
                </a:solidFill>
              </a:rPr>
              <a:t>analyse</a:t>
            </a:r>
            <a:r>
              <a:rPr b="1" dirty="0">
                <a:solidFill>
                  <a:srgbClr val="FFFF00"/>
                </a:solidFill>
              </a:rPr>
              <a:t>)</a:t>
            </a:r>
            <a:r>
              <a:rPr lang="nl-NL" b="1" dirty="0">
                <a:solidFill>
                  <a:srgbClr val="FFFF00"/>
                </a:solidFill>
              </a:rPr>
              <a:t> (2 focus teams)</a:t>
            </a:r>
            <a:endParaRPr b="1" dirty="0">
              <a:solidFill>
                <a:srgbClr val="FFFF00"/>
              </a:solidFill>
            </a:endParaRPr>
          </a:p>
          <a:p>
            <a:r>
              <a:rPr dirty="0"/>
              <a:t>⏱️ 100% </a:t>
            </a:r>
            <a:r>
              <a:rPr dirty="0" err="1"/>
              <a:t>correcte</a:t>
            </a:r>
            <a:r>
              <a:rPr dirty="0"/>
              <a:t> </a:t>
            </a:r>
            <a:r>
              <a:rPr dirty="0" err="1"/>
              <a:t>urenregistratie</a:t>
            </a:r>
            <a:r>
              <a:rPr dirty="0"/>
              <a:t> per </a:t>
            </a:r>
            <a:r>
              <a:rPr dirty="0" err="1"/>
              <a:t>dag</a:t>
            </a:r>
            <a:endParaRPr dirty="0"/>
          </a:p>
          <a:p>
            <a:r>
              <a:rPr dirty="0"/>
              <a:t>📈 50% </a:t>
            </a:r>
            <a:r>
              <a:rPr dirty="0" err="1"/>
              <a:t>meer</a:t>
            </a:r>
            <a:r>
              <a:rPr dirty="0"/>
              <a:t> </a:t>
            </a:r>
            <a:r>
              <a:rPr dirty="0" err="1"/>
              <a:t>verkoopgesprekken</a:t>
            </a:r>
            <a:r>
              <a:rPr dirty="0"/>
              <a:t> </a:t>
            </a:r>
            <a:r>
              <a:rPr dirty="0" err="1"/>
              <a:t>dankzij</a:t>
            </a:r>
            <a:r>
              <a:rPr dirty="0"/>
              <a:t> AI-assist</a:t>
            </a:r>
          </a:p>
          <a:p>
            <a:r>
              <a:rPr dirty="0"/>
              <a:t>🔧 AI-</a:t>
            </a:r>
            <a:r>
              <a:rPr dirty="0" err="1"/>
              <a:t>ondersteunde</a:t>
            </a:r>
            <a:r>
              <a:rPr dirty="0"/>
              <a:t> </a:t>
            </a:r>
            <a:r>
              <a:rPr dirty="0" err="1"/>
              <a:t>inrichting</a:t>
            </a:r>
            <a:r>
              <a:rPr dirty="0"/>
              <a:t> door consultants</a:t>
            </a:r>
          </a:p>
          <a:p>
            <a:r>
              <a:rPr dirty="0"/>
              <a:t>📋 </a:t>
            </a:r>
            <a:r>
              <a:rPr lang="nl-NL" dirty="0"/>
              <a:t>A</a:t>
            </a:r>
            <a:r>
              <a:rPr dirty="0" err="1"/>
              <a:t>utomatisch</a:t>
            </a:r>
            <a:r>
              <a:rPr dirty="0"/>
              <a:t> </a:t>
            </a:r>
            <a:r>
              <a:rPr lang="nl-NL" dirty="0"/>
              <a:t>genereren </a:t>
            </a:r>
            <a:r>
              <a:rPr lang="nl-NL" dirty="0" err="1"/>
              <a:t>requirements</a:t>
            </a:r>
            <a:r>
              <a:rPr lang="nl-NL" dirty="0"/>
              <a:t>, </a:t>
            </a:r>
            <a:r>
              <a:rPr dirty="0"/>
              <a:t>user stories</a:t>
            </a:r>
            <a:r>
              <a:rPr lang="nl-NL" dirty="0"/>
              <a:t>, documentatie</a:t>
            </a:r>
            <a:endParaRPr dirty="0"/>
          </a:p>
          <a:p>
            <a:r>
              <a:rPr dirty="0"/>
              <a:t>🧾 </a:t>
            </a:r>
            <a:r>
              <a:rPr dirty="0" err="1"/>
              <a:t>Volledige</a:t>
            </a:r>
            <a:r>
              <a:rPr dirty="0"/>
              <a:t> </a:t>
            </a:r>
            <a:r>
              <a:rPr dirty="0" err="1"/>
              <a:t>facturatie</a:t>
            </a:r>
            <a:r>
              <a:rPr dirty="0"/>
              <a:t> </a:t>
            </a:r>
            <a:r>
              <a:rPr dirty="0" err="1"/>
              <a:t>automatisering</a:t>
            </a:r>
            <a:r>
              <a:rPr dirty="0"/>
              <a:t> (</a:t>
            </a:r>
            <a:r>
              <a:rPr dirty="0" err="1"/>
              <a:t>o.a.</a:t>
            </a:r>
            <a:r>
              <a:rPr dirty="0"/>
              <a:t> </a:t>
            </a:r>
            <a:r>
              <a:rPr dirty="0" err="1"/>
              <a:t>Infofolio</a:t>
            </a:r>
            <a:r>
              <a:rPr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Waarom echt 1 dag per week?</a:t>
            </a:r>
          </a:p>
        </p:txBody>
      </p:sp>
      <p:sp>
        <p:nvSpPr>
          <p:cNvPr id="3" name="Content Placeholder 2"/>
          <p:cNvSpPr>
            <a:spLocks noGrp="1"/>
          </p:cNvSpPr>
          <p:nvPr>
            <p:ph idx="1"/>
          </p:nvPr>
        </p:nvSpPr>
        <p:spPr/>
        <p:txBody>
          <a:bodyPr/>
          <a:lstStyle/>
          <a:p>
            <a:r>
              <a:rPr dirty="0"/>
              <a:t>❌ </a:t>
            </a:r>
            <a:r>
              <a:rPr dirty="0" err="1"/>
              <a:t>Niet</a:t>
            </a:r>
            <a:r>
              <a:rPr dirty="0"/>
              <a:t> </a:t>
            </a:r>
            <a:r>
              <a:rPr dirty="0" err="1"/>
              <a:t>te</a:t>
            </a:r>
            <a:r>
              <a:rPr dirty="0"/>
              <a:t> </a:t>
            </a:r>
            <a:r>
              <a:rPr dirty="0" err="1"/>
              <a:t>combineren</a:t>
            </a:r>
            <a:r>
              <a:rPr dirty="0"/>
              <a:t> met </a:t>
            </a:r>
            <a:r>
              <a:rPr dirty="0" err="1"/>
              <a:t>regulier</a:t>
            </a:r>
            <a:r>
              <a:rPr dirty="0"/>
              <a:t> </a:t>
            </a:r>
            <a:r>
              <a:rPr dirty="0" err="1"/>
              <a:t>werk</a:t>
            </a:r>
            <a:endParaRPr dirty="0"/>
          </a:p>
          <a:p>
            <a:r>
              <a:rPr dirty="0"/>
              <a:t>⚠️ Zonder focus </a:t>
            </a:r>
            <a:r>
              <a:rPr dirty="0" err="1"/>
              <a:t>vervalt</a:t>
            </a:r>
            <a:r>
              <a:rPr dirty="0"/>
              <a:t> AI tot </a:t>
            </a:r>
            <a:r>
              <a:rPr dirty="0" err="1"/>
              <a:t>vrijblijvende</a:t>
            </a:r>
            <a:r>
              <a:rPr dirty="0"/>
              <a:t> tool</a:t>
            </a:r>
          </a:p>
          <a:p>
            <a:r>
              <a:rPr dirty="0"/>
              <a:t>✅ </a:t>
            </a:r>
            <a:r>
              <a:rPr dirty="0" err="1"/>
              <a:t>Tijdblokken</a:t>
            </a:r>
            <a:r>
              <a:rPr dirty="0"/>
              <a:t> </a:t>
            </a:r>
            <a:r>
              <a:rPr dirty="0" err="1"/>
              <a:t>creëren</a:t>
            </a:r>
            <a:r>
              <a:rPr dirty="0"/>
              <a:t> momentum, </a:t>
            </a:r>
            <a:r>
              <a:rPr dirty="0" err="1"/>
              <a:t>creativiteit</a:t>
            </a:r>
            <a:r>
              <a:rPr dirty="0"/>
              <a:t> en output</a:t>
            </a:r>
          </a:p>
          <a:p>
            <a:r>
              <a:rPr dirty="0"/>
              <a:t>📌 </a:t>
            </a:r>
            <a:r>
              <a:rPr dirty="0" err="1"/>
              <a:t>Deze</a:t>
            </a:r>
            <a:r>
              <a:rPr dirty="0"/>
              <a:t> </a:t>
            </a:r>
            <a:r>
              <a:rPr dirty="0" err="1"/>
              <a:t>tijd</a:t>
            </a:r>
            <a:r>
              <a:rPr dirty="0"/>
              <a:t> is </a:t>
            </a:r>
            <a:r>
              <a:rPr dirty="0" err="1"/>
              <a:t>een</a:t>
            </a:r>
            <a:r>
              <a:rPr dirty="0"/>
              <a:t> </a:t>
            </a:r>
            <a:r>
              <a:rPr dirty="0" err="1"/>
              <a:t>investering</a:t>
            </a:r>
            <a:r>
              <a:rPr dirty="0"/>
              <a:t> – </a:t>
            </a:r>
            <a:r>
              <a:rPr dirty="0" err="1"/>
              <a:t>geen</a:t>
            </a:r>
            <a:r>
              <a:rPr dirty="0"/>
              <a:t> </a:t>
            </a:r>
            <a:r>
              <a:rPr dirty="0" err="1"/>
              <a:t>kostenpost</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Concreet voorstel</a:t>
            </a:r>
          </a:p>
        </p:txBody>
      </p:sp>
      <p:sp>
        <p:nvSpPr>
          <p:cNvPr id="3" name="Content Placeholder 2"/>
          <p:cNvSpPr>
            <a:spLocks noGrp="1"/>
          </p:cNvSpPr>
          <p:nvPr>
            <p:ph idx="1"/>
          </p:nvPr>
        </p:nvSpPr>
        <p:spPr/>
        <p:txBody>
          <a:bodyPr/>
          <a:lstStyle/>
          <a:p>
            <a:r>
              <a:t>📅 Duur: 13 weken – 1 dag per week</a:t>
            </a:r>
          </a:p>
          <a:p>
            <a:r>
              <a:t>👥 18 multidisciplinaire teams van 5 personen</a:t>
            </a:r>
          </a:p>
          <a:p>
            <a:r>
              <a:t>📦 Output: werkende AI-oplossingen met aantoonbare impact</a:t>
            </a:r>
          </a:p>
          <a:p>
            <a:r>
              <a:t>🎯 Elk team levert een MVP + bewijs van versnelling/verbetering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005AC-2F93-9C16-8CFC-0B95FB774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C0D96-77DE-F535-7F74-A6A7C3DA2555}"/>
              </a:ext>
            </a:extLst>
          </p:cNvPr>
          <p:cNvSpPr>
            <a:spLocks noGrp="1"/>
          </p:cNvSpPr>
          <p:nvPr>
            <p:ph type="title"/>
          </p:nvPr>
        </p:nvSpPr>
        <p:spPr/>
        <p:txBody>
          <a:bodyPr/>
          <a:lstStyle/>
          <a:p>
            <a:r>
              <a:rPr lang="nl-NL" dirty="0"/>
              <a:t>Extra Challenge – voor de fanatiekelingen</a:t>
            </a:r>
            <a:endParaRPr dirty="0"/>
          </a:p>
        </p:txBody>
      </p:sp>
      <p:sp>
        <p:nvSpPr>
          <p:cNvPr id="3" name="Content Placeholder 2">
            <a:extLst>
              <a:ext uri="{FF2B5EF4-FFF2-40B4-BE49-F238E27FC236}">
                <a16:creationId xmlns:a16="http://schemas.microsoft.com/office/drawing/2014/main" id="{336B7B3C-7C46-6DEF-6761-939543B99C95}"/>
              </a:ext>
            </a:extLst>
          </p:cNvPr>
          <p:cNvSpPr>
            <a:spLocks noGrp="1"/>
          </p:cNvSpPr>
          <p:nvPr>
            <p:ph idx="1"/>
          </p:nvPr>
        </p:nvSpPr>
        <p:spPr/>
        <p:txBody>
          <a:bodyPr/>
          <a:lstStyle/>
          <a:p>
            <a:r>
              <a:rPr dirty="0"/>
              <a:t>📅 </a:t>
            </a:r>
            <a:r>
              <a:rPr lang="nl-NL" dirty="0"/>
              <a:t>11 – 14 juli, deelname aan </a:t>
            </a:r>
            <a:r>
              <a:rPr lang="nl-NL" dirty="0" err="1"/>
              <a:t>werldwijde</a:t>
            </a:r>
            <a:r>
              <a:rPr lang="nl-NL" dirty="0"/>
              <a:t> AI </a:t>
            </a:r>
            <a:r>
              <a:rPr lang="nl-NL" dirty="0" err="1"/>
              <a:t>Hacketon</a:t>
            </a:r>
            <a:endParaRPr dirty="0"/>
          </a:p>
          <a:p>
            <a:r>
              <a:rPr dirty="0"/>
              <a:t>👥 </a:t>
            </a:r>
            <a:r>
              <a:rPr lang="nl-NL" dirty="0"/>
              <a:t>Met Inpact team opnemen tegen andere teams</a:t>
            </a:r>
          </a:p>
          <a:p>
            <a:r>
              <a:rPr lang="en-US" dirty="0"/>
              <a:t>🤖 Build with Generative AI, RAG, and AI agents</a:t>
            </a:r>
          </a:p>
          <a:p>
            <a:r>
              <a:rPr lang="en-US" dirty="0"/>
              <a:t>🎓 Mentorship from senior AI experts </a:t>
            </a:r>
            <a:endParaRPr dirty="0"/>
          </a:p>
          <a:p>
            <a:r>
              <a:rPr dirty="0"/>
              <a:t>📦 Output: </a:t>
            </a:r>
            <a:r>
              <a:rPr dirty="0" err="1"/>
              <a:t>werkende</a:t>
            </a:r>
            <a:r>
              <a:rPr dirty="0"/>
              <a:t> </a:t>
            </a:r>
            <a:r>
              <a:rPr lang="nl-NL" dirty="0"/>
              <a:t>…., Advies Agent – Claims Agent – AI SDLC </a:t>
            </a:r>
            <a:r>
              <a:rPr lang="nl-NL" dirty="0" err="1"/>
              <a:t>factory</a:t>
            </a:r>
            <a:endParaRPr lang="nl-NL" dirty="0"/>
          </a:p>
          <a:p>
            <a:r>
              <a:rPr lang="nl-NL" dirty="0"/>
              <a:t>🏆 $10,000 </a:t>
            </a:r>
            <a:r>
              <a:rPr lang="nl-NL" dirty="0" err="1"/>
              <a:t>prize</a:t>
            </a:r>
            <a:r>
              <a:rPr lang="nl-NL" dirty="0"/>
              <a:t> voor het winnende team</a:t>
            </a:r>
            <a:endParaRPr dirty="0"/>
          </a:p>
          <a:p>
            <a:r>
              <a:rPr dirty="0"/>
              <a:t>🎯 </a:t>
            </a:r>
            <a:r>
              <a:rPr lang="nl-NL" dirty="0"/>
              <a:t>World </a:t>
            </a:r>
            <a:r>
              <a:rPr lang="nl-NL" dirty="0" err="1"/>
              <a:t>wide</a:t>
            </a:r>
            <a:r>
              <a:rPr lang="nl-NL" dirty="0"/>
              <a:t> </a:t>
            </a:r>
            <a:r>
              <a:rPr lang="nl-NL" dirty="0" err="1"/>
              <a:t>admiration</a:t>
            </a:r>
            <a:endParaRPr dirty="0"/>
          </a:p>
        </p:txBody>
      </p:sp>
    </p:spTree>
    <p:extLst>
      <p:ext uri="{BB962C8B-B14F-4D97-AF65-F5344CB8AC3E}">
        <p14:creationId xmlns:p14="http://schemas.microsoft.com/office/powerpoint/2010/main" val="4023776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 Hoe </a:t>
            </a:r>
            <a:r>
              <a:rPr dirty="0" err="1"/>
              <a:t>maken</a:t>
            </a:r>
            <a:r>
              <a:rPr dirty="0"/>
              <a:t> we </a:t>
            </a:r>
            <a:r>
              <a:rPr dirty="0" err="1"/>
              <a:t>dit</a:t>
            </a:r>
            <a:r>
              <a:rPr dirty="0"/>
              <a:t> tot </a:t>
            </a:r>
            <a:r>
              <a:rPr dirty="0" err="1"/>
              <a:t>een</a:t>
            </a:r>
            <a:r>
              <a:rPr dirty="0"/>
              <a:t> </a:t>
            </a:r>
            <a:r>
              <a:rPr dirty="0" err="1"/>
              <a:t>onvergetelijk</a:t>
            </a:r>
            <a:r>
              <a:rPr dirty="0"/>
              <a:t> </a:t>
            </a:r>
            <a:r>
              <a:rPr dirty="0" err="1"/>
              <a:t>succes</a:t>
            </a:r>
            <a:r>
              <a:rPr dirty="0"/>
              <a:t>?</a:t>
            </a:r>
          </a:p>
        </p:txBody>
      </p:sp>
      <p:sp>
        <p:nvSpPr>
          <p:cNvPr id="3" name="Content Placeholder 2"/>
          <p:cNvSpPr>
            <a:spLocks noGrp="1"/>
          </p:cNvSpPr>
          <p:nvPr>
            <p:ph idx="1"/>
          </p:nvPr>
        </p:nvSpPr>
        <p:spPr/>
        <p:txBody>
          <a:bodyPr>
            <a:normAutofit fontScale="92500" lnSpcReduction="20000"/>
          </a:bodyPr>
          <a:lstStyle/>
          <a:p>
            <a:r>
              <a:rPr dirty="0"/>
              <a:t>🏁 </a:t>
            </a:r>
            <a:r>
              <a:rPr dirty="0" err="1"/>
              <a:t>Competitie</a:t>
            </a:r>
            <a:r>
              <a:rPr dirty="0"/>
              <a:t> </a:t>
            </a:r>
            <a:r>
              <a:rPr dirty="0" err="1"/>
              <a:t>als</a:t>
            </a:r>
            <a:r>
              <a:rPr dirty="0"/>
              <a:t> </a:t>
            </a:r>
            <a:r>
              <a:rPr dirty="0" err="1"/>
              <a:t>versneller</a:t>
            </a:r>
            <a:r>
              <a:rPr dirty="0"/>
              <a:t>: teams </a:t>
            </a:r>
            <a:r>
              <a:rPr dirty="0" err="1"/>
              <a:t>strijden</a:t>
            </a:r>
            <a:r>
              <a:rPr dirty="0"/>
              <a:t> op impact, </a:t>
            </a:r>
            <a:r>
              <a:rPr dirty="0" err="1"/>
              <a:t>versnelling</a:t>
            </a:r>
            <a:r>
              <a:rPr dirty="0"/>
              <a:t> en </a:t>
            </a:r>
            <a:r>
              <a:rPr dirty="0" err="1"/>
              <a:t>samenwerking</a:t>
            </a:r>
            <a:endParaRPr dirty="0"/>
          </a:p>
          <a:p>
            <a:r>
              <a:rPr dirty="0"/>
              <a:t>🧑‍🏫 Coaching en support: AI-coaches, check-ins, </a:t>
            </a:r>
            <a:r>
              <a:rPr dirty="0" err="1"/>
              <a:t>promptbibliotheek</a:t>
            </a:r>
            <a:endParaRPr dirty="0"/>
          </a:p>
          <a:p>
            <a:r>
              <a:rPr dirty="0"/>
              <a:t>📣 </a:t>
            </a:r>
            <a:r>
              <a:rPr dirty="0" err="1"/>
              <a:t>Leiderschap</a:t>
            </a:r>
            <a:r>
              <a:rPr dirty="0"/>
              <a:t> </a:t>
            </a:r>
            <a:r>
              <a:rPr dirty="0" err="1"/>
              <a:t>als</a:t>
            </a:r>
            <a:r>
              <a:rPr dirty="0"/>
              <a:t> </a:t>
            </a:r>
            <a:r>
              <a:rPr dirty="0" err="1"/>
              <a:t>vliegwiel</a:t>
            </a:r>
            <a:r>
              <a:rPr dirty="0"/>
              <a:t>: MT </a:t>
            </a:r>
            <a:r>
              <a:rPr dirty="0" err="1"/>
              <a:t>zichtbaar</a:t>
            </a:r>
            <a:r>
              <a:rPr dirty="0"/>
              <a:t> </a:t>
            </a:r>
            <a:r>
              <a:rPr dirty="0" err="1"/>
              <a:t>betrokken</a:t>
            </a:r>
            <a:r>
              <a:rPr dirty="0"/>
              <a:t>, </a:t>
            </a:r>
            <a:r>
              <a:rPr dirty="0" err="1"/>
              <a:t>ruimte</a:t>
            </a:r>
            <a:r>
              <a:rPr dirty="0"/>
              <a:t> </a:t>
            </a:r>
            <a:r>
              <a:rPr dirty="0" err="1"/>
              <a:t>faciliteren</a:t>
            </a:r>
            <a:endParaRPr dirty="0"/>
          </a:p>
          <a:p>
            <a:r>
              <a:rPr dirty="0"/>
              <a:t>⚡ </a:t>
            </a:r>
            <a:r>
              <a:rPr dirty="0" err="1"/>
              <a:t>Motivatie</a:t>
            </a:r>
            <a:r>
              <a:rPr dirty="0"/>
              <a:t> &amp; </a:t>
            </a:r>
            <a:r>
              <a:rPr dirty="0" err="1"/>
              <a:t>energie</a:t>
            </a:r>
            <a:r>
              <a:rPr dirty="0"/>
              <a:t>: Wall of Fame, demo’s, awards, Slack buzz</a:t>
            </a:r>
          </a:p>
          <a:p>
            <a:r>
              <a:rPr dirty="0"/>
              <a:t>🌱 </a:t>
            </a:r>
            <a:r>
              <a:rPr dirty="0" err="1"/>
              <a:t>Langetermijnimpact</a:t>
            </a:r>
            <a:r>
              <a:rPr dirty="0"/>
              <a:t>: MVP’s </a:t>
            </a:r>
            <a:r>
              <a:rPr dirty="0" err="1"/>
              <a:t>worden</a:t>
            </a:r>
            <a:r>
              <a:rPr dirty="0"/>
              <a:t> </a:t>
            </a:r>
            <a:r>
              <a:rPr dirty="0" err="1"/>
              <a:t>structureel</a:t>
            </a:r>
            <a:r>
              <a:rPr dirty="0"/>
              <a:t> </a:t>
            </a:r>
            <a:r>
              <a:rPr dirty="0" err="1"/>
              <a:t>geadopteerd</a:t>
            </a:r>
            <a:endParaRPr dirty="0"/>
          </a:p>
          <a:p>
            <a:r>
              <a:rPr dirty="0"/>
              <a:t>🎯 Doel: </a:t>
            </a:r>
            <a:r>
              <a:rPr dirty="0" err="1"/>
              <a:t>Iedereen</a:t>
            </a:r>
            <a:r>
              <a:rPr dirty="0"/>
              <a:t> </a:t>
            </a:r>
            <a:r>
              <a:rPr dirty="0" err="1"/>
              <a:t>weet</a:t>
            </a:r>
            <a:r>
              <a:rPr dirty="0"/>
              <a:t> over 5 </a:t>
            </a:r>
            <a:r>
              <a:rPr dirty="0" err="1"/>
              <a:t>jaar</a:t>
            </a:r>
            <a:r>
              <a:rPr dirty="0"/>
              <a:t> </a:t>
            </a:r>
            <a:r>
              <a:rPr dirty="0" err="1"/>
              <a:t>nog</a:t>
            </a:r>
            <a:r>
              <a:rPr dirty="0"/>
              <a:t> </a:t>
            </a:r>
            <a:r>
              <a:rPr dirty="0" err="1"/>
              <a:t>waar</a:t>
            </a:r>
            <a:r>
              <a:rPr dirty="0"/>
              <a:t> </a:t>
            </a:r>
            <a:r>
              <a:rPr dirty="0" err="1"/>
              <a:t>hij</a:t>
            </a:r>
            <a:r>
              <a:rPr dirty="0"/>
              <a:t> was </a:t>
            </a:r>
            <a:r>
              <a:rPr dirty="0" err="1"/>
              <a:t>tijdens</a:t>
            </a:r>
            <a:r>
              <a:rPr dirty="0"/>
              <a:t> </a:t>
            </a:r>
            <a:r>
              <a:rPr dirty="0" err="1"/>
              <a:t>deze</a:t>
            </a:r>
            <a:r>
              <a:rPr dirty="0"/>
              <a:t> AI Challenge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Wat levert het op? (ROI)</a:t>
            </a:r>
          </a:p>
        </p:txBody>
      </p:sp>
      <p:sp>
        <p:nvSpPr>
          <p:cNvPr id="3" name="Content Placeholder 2"/>
          <p:cNvSpPr>
            <a:spLocks noGrp="1"/>
          </p:cNvSpPr>
          <p:nvPr>
            <p:ph idx="1"/>
          </p:nvPr>
        </p:nvSpPr>
        <p:spPr/>
        <p:txBody>
          <a:bodyPr>
            <a:normAutofit/>
          </a:bodyPr>
          <a:lstStyle/>
          <a:p>
            <a:r>
              <a:rPr dirty="0"/>
              <a:t>🚀 </a:t>
            </a:r>
            <a:r>
              <a:rPr lang="nl-NL" sz="2400" dirty="0"/>
              <a:t>Snellere time2 market met nieuwe producten</a:t>
            </a:r>
            <a:br>
              <a:rPr lang="nl-NL" dirty="0"/>
            </a:br>
            <a:r>
              <a:rPr lang="nl-NL" dirty="0"/>
              <a:t>	</a:t>
            </a:r>
            <a:r>
              <a:rPr lang="nl-NL" sz="1600" dirty="0"/>
              <a:t>Kans op enorme uitbreiding development capaciteit</a:t>
            </a:r>
            <a:endParaRPr sz="1600" dirty="0"/>
          </a:p>
          <a:p>
            <a:r>
              <a:rPr dirty="0"/>
              <a:t>🛠️ </a:t>
            </a:r>
            <a:r>
              <a:rPr lang="nl-NL" sz="2400" dirty="0"/>
              <a:t>Verhogen klanttevredenheid / verlagen interne frustratie</a:t>
            </a:r>
            <a:br>
              <a:rPr lang="nl-NL" dirty="0"/>
            </a:br>
            <a:r>
              <a:rPr lang="nl-NL" dirty="0"/>
              <a:t>	</a:t>
            </a:r>
            <a:r>
              <a:rPr sz="1600" dirty="0"/>
              <a:t>70% minder </a:t>
            </a:r>
            <a:r>
              <a:rPr sz="1600" dirty="0" err="1"/>
              <a:t>handmatig</a:t>
            </a:r>
            <a:r>
              <a:rPr sz="1600" dirty="0"/>
              <a:t> </a:t>
            </a:r>
            <a:r>
              <a:rPr sz="1600" dirty="0" err="1"/>
              <a:t>supportwerk</a:t>
            </a:r>
            <a:endParaRPr sz="1600" dirty="0"/>
          </a:p>
          <a:p>
            <a:r>
              <a:rPr dirty="0"/>
              <a:t>🧠 </a:t>
            </a:r>
            <a:r>
              <a:rPr lang="nl-NL" sz="2400" dirty="0"/>
              <a:t>Aantrekkelijker werkgever</a:t>
            </a:r>
            <a:br>
              <a:rPr lang="nl-NL" dirty="0"/>
            </a:br>
            <a:r>
              <a:rPr lang="nl-NL" dirty="0"/>
              <a:t>	</a:t>
            </a:r>
            <a:r>
              <a:rPr lang="nl-NL" sz="1600" dirty="0"/>
              <a:t>Meer tijd voor creatie, minder voor repetitie</a:t>
            </a:r>
          </a:p>
          <a:p>
            <a:r>
              <a:rPr dirty="0"/>
              <a:t>💶 </a:t>
            </a:r>
            <a:r>
              <a:rPr sz="2400" dirty="0"/>
              <a:t>Meer </a:t>
            </a:r>
            <a:r>
              <a:rPr sz="2400" dirty="0" err="1"/>
              <a:t>facturabele</a:t>
            </a:r>
            <a:r>
              <a:rPr sz="2400" dirty="0"/>
              <a:t> </a:t>
            </a:r>
            <a:r>
              <a:rPr sz="2400" dirty="0" err="1"/>
              <a:t>uren</a:t>
            </a:r>
            <a:r>
              <a:rPr sz="2400" dirty="0"/>
              <a:t>, </a:t>
            </a:r>
            <a:r>
              <a:rPr sz="2400" dirty="0" err="1"/>
              <a:t>hogere</a:t>
            </a:r>
            <a:r>
              <a:rPr sz="2400" dirty="0"/>
              <a:t> </a:t>
            </a:r>
            <a:r>
              <a:rPr sz="2400" dirty="0" err="1"/>
              <a:t>omzet</a:t>
            </a:r>
            <a:endParaRPr sz="2400" dirty="0"/>
          </a:p>
          <a:p>
            <a:r>
              <a:rPr sz="2400" dirty="0"/>
              <a:t>📉 Minder </a:t>
            </a:r>
            <a:r>
              <a:rPr sz="2400" dirty="0" err="1"/>
              <a:t>druk</a:t>
            </a:r>
            <a:r>
              <a:rPr sz="2400" dirty="0"/>
              <a:t> op development &amp; PO’s</a:t>
            </a:r>
          </a:p>
          <a:p>
            <a:r>
              <a:rPr sz="2400" dirty="0"/>
              <a:t>🔁 </a:t>
            </a:r>
            <a:r>
              <a:rPr sz="2400" dirty="0" err="1"/>
              <a:t>Structurele</a:t>
            </a:r>
            <a:r>
              <a:rPr sz="2400" dirty="0"/>
              <a:t>, </a:t>
            </a:r>
            <a:r>
              <a:rPr sz="2400" dirty="0" err="1"/>
              <a:t>herhaalbare</a:t>
            </a:r>
            <a:r>
              <a:rPr sz="2400" dirty="0"/>
              <a:t> AI-</a:t>
            </a:r>
            <a:r>
              <a:rPr sz="2400" dirty="0" err="1"/>
              <a:t>capaciteit</a:t>
            </a:r>
            <a:r>
              <a:rPr sz="2400" dirty="0"/>
              <a:t> in de </a:t>
            </a:r>
            <a:r>
              <a:rPr sz="2400" dirty="0" err="1"/>
              <a:t>organisatie</a:t>
            </a:r>
            <a:endParaRPr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Voor vandaag</a:t>
            </a:r>
            <a:endParaRPr dirty="0"/>
          </a:p>
        </p:txBody>
      </p:sp>
      <p:sp>
        <p:nvSpPr>
          <p:cNvPr id="3" name="Content Placeholder 2"/>
          <p:cNvSpPr>
            <a:spLocks noGrp="1"/>
          </p:cNvSpPr>
          <p:nvPr>
            <p:ph idx="1"/>
          </p:nvPr>
        </p:nvSpPr>
        <p:spPr/>
        <p:txBody>
          <a:bodyPr/>
          <a:lstStyle/>
          <a:p>
            <a:r>
              <a:rPr dirty="0"/>
              <a:t>✅ </a:t>
            </a:r>
            <a:r>
              <a:rPr lang="nl-NL" dirty="0"/>
              <a:t>Commitment</a:t>
            </a:r>
            <a:r>
              <a:rPr dirty="0"/>
              <a:t> op </a:t>
            </a:r>
            <a:r>
              <a:rPr dirty="0" err="1"/>
              <a:t>inzet</a:t>
            </a:r>
            <a:r>
              <a:rPr dirty="0"/>
              <a:t> 13 </a:t>
            </a:r>
            <a:r>
              <a:rPr dirty="0" err="1"/>
              <a:t>dagen</a:t>
            </a:r>
            <a:r>
              <a:rPr dirty="0"/>
              <a:t> / 13 </a:t>
            </a:r>
            <a:r>
              <a:rPr dirty="0" err="1"/>
              <a:t>weken</a:t>
            </a:r>
            <a:endParaRPr dirty="0"/>
          </a:p>
          <a:p>
            <a:r>
              <a:rPr dirty="0"/>
              <a:t>📋 Kickoff </a:t>
            </a:r>
            <a:r>
              <a:rPr dirty="0" err="1"/>
              <a:t>plannen</a:t>
            </a:r>
            <a:r>
              <a:rPr dirty="0"/>
              <a:t> met team leads</a:t>
            </a:r>
          </a:p>
          <a:p>
            <a:r>
              <a:rPr dirty="0"/>
              <a:t>🧩 </a:t>
            </a:r>
            <a:r>
              <a:rPr dirty="0" err="1"/>
              <a:t>Selectie</a:t>
            </a:r>
            <a:r>
              <a:rPr dirty="0"/>
              <a:t> use cases + </a:t>
            </a:r>
            <a:r>
              <a:rPr dirty="0" err="1"/>
              <a:t>teamindeling</a:t>
            </a:r>
            <a:endParaRPr dirty="0"/>
          </a:p>
          <a:p>
            <a:r>
              <a:rPr dirty="0"/>
              <a:t>🚀 </a:t>
            </a:r>
            <a:r>
              <a:rPr dirty="0" err="1"/>
              <a:t>Eerste</a:t>
            </a:r>
            <a:r>
              <a:rPr dirty="0"/>
              <a:t> Challenge-</a:t>
            </a:r>
            <a:r>
              <a:rPr dirty="0" err="1"/>
              <a:t>dag</a:t>
            </a:r>
            <a:r>
              <a:rPr dirty="0"/>
              <a:t>: [datum </a:t>
            </a:r>
            <a:r>
              <a:rPr dirty="0" err="1"/>
              <a:t>invullen</a:t>
            </a:r>
            <a:r>
              <a:rPr dirty="0"/>
              <a:t>]</a:t>
            </a:r>
            <a:endParaRPr lang="nl-NL" dirty="0"/>
          </a:p>
          <a:p>
            <a:r>
              <a:rPr lang="nl-NL" dirty="0"/>
              <a:t>📣 15 weken AI Challenge promotie campagne</a:t>
            </a:r>
          </a:p>
          <a:p>
            <a:r>
              <a:rPr lang="nl-NL" dirty="0"/>
              <a:t>👥 AI Challenge organisatie team</a:t>
            </a:r>
          </a:p>
          <a:p>
            <a:r>
              <a:rPr lang="nl-NL" dirty="0"/>
              <a:t>🏆Competitie kaders en jury samenstellen</a:t>
            </a:r>
          </a:p>
          <a:p>
            <a:r>
              <a:rPr lang="nl-NL" dirty="0"/>
              <a:t>📌 Follow up Q425</a:t>
            </a:r>
          </a:p>
          <a:p>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FFA51-7472-E749-134B-69D19AB17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38299-3A9C-0B69-9CD2-66483BC5223D}"/>
              </a:ext>
            </a:extLst>
          </p:cNvPr>
          <p:cNvSpPr>
            <a:spLocks noGrp="1"/>
          </p:cNvSpPr>
          <p:nvPr>
            <p:ph type="ctrTitle"/>
          </p:nvPr>
        </p:nvSpPr>
        <p:spPr/>
        <p:txBody>
          <a:bodyPr/>
          <a:lstStyle/>
          <a:p>
            <a:r>
              <a:rPr dirty="0"/>
              <a:t>AI Challenge </a:t>
            </a:r>
            <a:r>
              <a:rPr lang="nl-NL" dirty="0"/>
              <a:t>Q3</a:t>
            </a:r>
            <a:r>
              <a:rPr dirty="0"/>
              <a:t>25</a:t>
            </a:r>
          </a:p>
        </p:txBody>
      </p:sp>
      <p:sp>
        <p:nvSpPr>
          <p:cNvPr id="3" name="Subtitle 2">
            <a:extLst>
              <a:ext uri="{FF2B5EF4-FFF2-40B4-BE49-F238E27FC236}">
                <a16:creationId xmlns:a16="http://schemas.microsoft.com/office/drawing/2014/main" id="{FE3C4DD2-115B-E516-C019-F63C6210B418}"/>
              </a:ext>
            </a:extLst>
          </p:cNvPr>
          <p:cNvSpPr>
            <a:spLocks noGrp="1"/>
          </p:cNvSpPr>
          <p:nvPr>
            <p:ph type="subTitle" idx="1"/>
          </p:nvPr>
        </p:nvSpPr>
        <p:spPr/>
        <p:txBody>
          <a:bodyPr/>
          <a:lstStyle/>
          <a:p>
            <a:r>
              <a:rPr lang="nl-NL" dirty="0"/>
              <a:t>Startdatum </a:t>
            </a:r>
            <a:r>
              <a:rPr lang="nl-NL" dirty="0" err="1"/>
              <a:t>Kickoff</a:t>
            </a:r>
            <a:r>
              <a:rPr lang="nl-NL" dirty="0"/>
              <a:t> Q3</a:t>
            </a:r>
            <a:endParaRPr dirty="0"/>
          </a:p>
        </p:txBody>
      </p:sp>
    </p:spTree>
    <p:extLst>
      <p:ext uri="{BB962C8B-B14F-4D97-AF65-F5344CB8AC3E}">
        <p14:creationId xmlns:p14="http://schemas.microsoft.com/office/powerpoint/2010/main" val="3829049140"/>
      </p:ext>
    </p:extLst>
  </p:cSld>
  <p:clrMapOvr>
    <a:masterClrMapping/>
  </p:clrMapOvr>
</p:sld>
</file>

<file path=ppt/theme/theme1.xml><?xml version="1.0" encoding="utf-8"?>
<a:theme xmlns:a="http://schemas.openxmlformats.org/drawingml/2006/main" name="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0" tIns="0" rIns="0" bIns="0" rtlCol="0" anchor="t">
        <a:normAutofit fontScale="92500" lnSpcReduction="10000"/>
      </a:bodyPr>
      <a:lstStyle>
        <a:defPPr marL="0" indent="0" algn="l">
          <a:buNone/>
          <a:tabLst>
            <a:tab pos="5648325" algn="l"/>
          </a:tabLst>
          <a:defRPr sz="1900" b="1" dirty="0" smtClean="0">
            <a:solidFill>
              <a:srgbClr val="13136B"/>
            </a:solidFill>
            <a:cs typeface="poppins"/>
          </a:defRPr>
        </a:defPPr>
      </a:lstStyle>
    </a:txDef>
  </a:objectDefaults>
  <a:extraClrSchemeLst/>
  <a:extLst>
    <a:ext uri="{05A4C25C-085E-4340-85A3-A5531E510DB2}">
      <thm15:themeFamily xmlns:thm15="http://schemas.microsoft.com/office/thememl/2012/main" name="Presentation1" id="{7DA57A26-6AF1-4B33-9F1F-0249E5132304}" vid="{17BFE8BE-CAD7-4712-9A7F-8D7F244BCEC0}"/>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D894CF958A0284AB7E1BEB73B771D38" ma:contentTypeVersion="16" ma:contentTypeDescription="Create a new document." ma:contentTypeScope="" ma:versionID="52b56c8f6613076398326e94d6cf076c">
  <xsd:schema xmlns:xsd="http://www.w3.org/2001/XMLSchema" xmlns:xs="http://www.w3.org/2001/XMLSchema" xmlns:p="http://schemas.microsoft.com/office/2006/metadata/properties" xmlns:ns2="9eb1f99d-12c4-49e5-85a4-620e743dc1e5" xmlns:ns3="186b1660-588b-48de-9a87-1f1a49bd1f07" targetNamespace="http://schemas.microsoft.com/office/2006/metadata/properties" ma:root="true" ma:fieldsID="d23cc863c3548444facb85834d516f80" ns2:_="" ns3:_="">
    <xsd:import namespace="9eb1f99d-12c4-49e5-85a4-620e743dc1e5"/>
    <xsd:import namespace="186b1660-588b-48de-9a87-1f1a49bd1f07"/>
    <xsd:element name="properties">
      <xsd:complexType>
        <xsd:sequence>
          <xsd:element name="documentManagement">
            <xsd:complexType>
              <xsd:all>
                <xsd:element ref="ns2:MigrationWizId" minOccurs="0"/>
                <xsd:element ref="ns2:MigrationWizIdPermissions" minOccurs="0"/>
                <xsd:element ref="ns2:MigrationWizIdVersion"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b1f99d-12c4-49e5-85a4-620e743dc1e5"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igrationWizIdPermissionLevels" ma:index="11" nillable="true" ma:displayName="MigrationWizIdPermissionLevels" ma:internalName="MigrationWizIdPermissionLevels">
      <xsd:simpleType>
        <xsd:restriction base="dms:Text"/>
      </xsd:simpleType>
    </xsd:element>
    <xsd:element name="MigrationWizIdDocumentLibraryPermissions" ma:index="12" nillable="true" ma:displayName="MigrationWizIdDocumentLibraryPermissions" ma:internalName="MigrationWizIdDocumentLibraryPermissions">
      <xsd:simpleType>
        <xsd:restriction base="dms:Text"/>
      </xsd:simpleType>
    </xsd:element>
    <xsd:element name="MigrationWizIdSecurityGroups" ma:index="13" nillable="true" ma:displayName="MigrationWizIdSecurityGroups" ma:internalName="MigrationWizIdSecurityGroups">
      <xsd:simpleType>
        <xsd:restriction base="dms:Text"/>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009abfa2-96c7-40da-b3d4-1e99e413a6a6"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86b1660-588b-48de-9a87-1f1a49bd1f07"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9c21b974-2c76-4a94-84bf-410c467e9cf7}" ma:internalName="TaxCatchAll" ma:showField="CatchAllData" ma:web="186b1660-588b-48de-9a87-1f1a49bd1f0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igrationWizIdPermissionLevels xmlns="9eb1f99d-12c4-49e5-85a4-620e743dc1e5" xsi:nil="true"/>
    <MigrationWizId xmlns="9eb1f99d-12c4-49e5-85a4-620e743dc1e5">eee12f4b-a190-48de-af78-20f40c3944c8</MigrationWizId>
    <MigrationWizIdSecurityGroups xmlns="9eb1f99d-12c4-49e5-85a4-620e743dc1e5" xsi:nil="true"/>
    <MigrationWizIdPermissions xmlns="9eb1f99d-12c4-49e5-85a4-620e743dc1e5" xsi:nil="true"/>
    <MigrationWizIdVersion xmlns="9eb1f99d-12c4-49e5-85a4-620e743dc1e5">eee12f4b-a190-48de-af78-20f40c3944c8-638724401210000000</MigrationWizIdVersion>
    <MigrationWizIdDocumentLibraryPermissions xmlns="9eb1f99d-12c4-49e5-85a4-620e743dc1e5" xsi:nil="true"/>
    <TaxCatchAll xmlns="186b1660-588b-48de-9a87-1f1a49bd1f07" xsi:nil="true"/>
    <lcf76f155ced4ddcb4097134ff3c332f xmlns="9eb1f99d-12c4-49e5-85a4-620e743dc1e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91A9039-4654-4688-BED5-EDA08FE64B4A}">
  <ds:schemaRefs>
    <ds:schemaRef ds:uri="http://schemas.microsoft.com/sharepoint/v3/contenttype/forms"/>
  </ds:schemaRefs>
</ds:datastoreItem>
</file>

<file path=customXml/itemProps2.xml><?xml version="1.0" encoding="utf-8"?>
<ds:datastoreItem xmlns:ds="http://schemas.openxmlformats.org/officeDocument/2006/customXml" ds:itemID="{069A2D15-FCE6-4CB9-B101-818C350AAC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b1f99d-12c4-49e5-85a4-620e743dc1e5"/>
    <ds:schemaRef ds:uri="186b1660-588b-48de-9a87-1f1a49bd1f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9C56EDA-FBC7-4C72-B397-284B4696E7AA}">
  <ds:schemaRefs>
    <ds:schemaRef ds:uri="http://schemas.openxmlformats.org/package/2006/metadata/core-properties"/>
    <ds:schemaRef ds:uri="http://schemas.microsoft.com/office/2006/documentManagement/types"/>
    <ds:schemaRef ds:uri="http://purl.org/dc/dcmitype/"/>
    <ds:schemaRef ds:uri="http://purl.org/dc/terms/"/>
    <ds:schemaRef ds:uri="http://schemas.microsoft.com/office/infopath/2007/PartnerControls"/>
    <ds:schemaRef ds:uri="http://purl.org/dc/elements/1.1/"/>
    <ds:schemaRef ds:uri="9eb1f99d-12c4-49e5-85a4-620e743dc1e5"/>
    <ds:schemaRef ds:uri="http://schemas.microsoft.com/office/2006/metadata/properties"/>
    <ds:schemaRef ds:uri="http://www.w3.org/XML/1998/namespace"/>
    <ds:schemaRef ds:uri="186b1660-588b-48de-9a87-1f1a49bd1f07"/>
  </ds:schemaRefs>
</ds:datastoreItem>
</file>

<file path=docProps/app.xml><?xml version="1.0" encoding="utf-8"?>
<Properties xmlns="http://schemas.openxmlformats.org/officeDocument/2006/extended-properties" xmlns:vt="http://schemas.openxmlformats.org/officeDocument/2006/docPropsVTypes">
  <Template>Inpact PP Template 2024</Template>
  <TotalTime>0</TotalTime>
  <Words>1368</Words>
  <Application>Microsoft Office PowerPoint</Application>
  <PresentationFormat>Widescreen</PresentationFormat>
  <Paragraphs>146</Paragraphs>
  <Slides>14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Open Sans</vt:lpstr>
      <vt:lpstr>Pacaembu Bold</vt:lpstr>
      <vt:lpstr>Poppins</vt:lpstr>
      <vt:lpstr>Main</vt:lpstr>
      <vt:lpstr>AI Challenge Q325</vt:lpstr>
      <vt:lpstr>Waarom deze AI Challenge?</vt:lpstr>
      <vt:lpstr>Strategisch kader: AI First = Business First</vt:lpstr>
      <vt:lpstr>AI 1st, #1 in AI</vt:lpstr>
      <vt:lpstr>Get your AI skillset together</vt:lpstr>
      <vt:lpstr>Inpact AI Challenge Q325?</vt:lpstr>
      <vt:lpstr>🚀 Wat willen we bereiken Q325?</vt:lpstr>
      <vt:lpstr>Waarom echt 1 dag per week?</vt:lpstr>
      <vt:lpstr>Concreet voorstel</vt:lpstr>
      <vt:lpstr>Extra Challenge – voor de fanatiekelingen</vt:lpstr>
      <vt:lpstr>🏆 Hoe maken we dit tot een onvergetelijk succes?</vt:lpstr>
      <vt:lpstr>Wat levert het op? (ROI)</vt:lpstr>
      <vt:lpstr>Voor vandaag</vt:lpstr>
      <vt:lpstr>AI Challenge Q325</vt:lpstr>
    </vt:vector>
  </TitlesOfParts>
  <Company>DDi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Organisatie Inpact</dc:title>
  <dc:creator>Thom M.H.J. Menssink | Inpact</dc:creator>
  <cp:lastModifiedBy>Thom Menssink</cp:lastModifiedBy>
  <cp:revision>46</cp:revision>
  <dcterms:created xsi:type="dcterms:W3CDTF">2024-12-09T14:08:06Z</dcterms:created>
  <dcterms:modified xsi:type="dcterms:W3CDTF">2025-06-23T06:30:31Z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0x010100ED894CF958A0284AB7E1BEB73B771D38</vt:lpwstr>
  </property>
  <property fmtid="{D5CDD505-2E9C-101B-9397-08002B2CF9AE}" pid="3" name="xd_ProgID">
    <vt:lpwstr/>
  </property>
  <property fmtid="{D5CDD505-2E9C-101B-9397-08002B2CF9AE}" pid="4" name="ComplianceAssetId">
    <vt:lpwstr/>
  </property>
  <property fmtid="{D5CDD505-2E9C-101B-9397-08002B2CF9AE}" pid="5" name="TemplateUrl">
    <vt:lpwstr/>
  </property>
  <property fmtid="{D5CDD505-2E9C-101B-9397-08002B2CF9AE}" pid="6" name="_ExtendedDescription">
    <vt:lpwstr/>
  </property>
  <property fmtid="{D5CDD505-2E9C-101B-9397-08002B2CF9AE}" pid="7" name="TriggerFlowInfo">
    <vt:lpwstr/>
  </property>
  <property fmtid="{D5CDD505-2E9C-101B-9397-08002B2CF9AE}" pid="8" name="xd_Signature">
    <vt:bool>false</vt:bool>
  </property>
  <property fmtid="{D5CDD505-2E9C-101B-9397-08002B2CF9AE}" pid="9" name="MediaServiceImageTags">
    <vt:lpwstr/>
  </property>
</Properties>
</file>